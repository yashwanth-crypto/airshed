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835768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algn="l"/>
            <a:r>
              <a:rPr lang="en-US" sz="1600" dirty="0">
                <a:latin typeface="Arial" pitchFamily="34" charset="0"/>
                <a:cs typeface="Arial" pitchFamily="34" charset="0"/>
              </a:rPr>
              <a:t>Problem Statement ID – SIH26082</a:t>
            </a:r>
          </a:p>
          <a:p>
            <a:pPr algn="l"/>
            <a:r>
              <a:rPr lang="en-US" sz="1600" dirty="0">
                <a:latin typeface="Arial" pitchFamily="34" charset="0"/>
                <a:cs typeface="Arial" pitchFamily="34" charset="0"/>
              </a:rPr>
              <a:t>Problem Statement Title- Air Pollution–Weather Coupled Forecasting System for Delhi NCR</a:t>
            </a:r>
          </a:p>
          <a:p>
            <a:pPr algn="l"/>
            <a:r>
              <a:rPr lang="en-US" sz="1600" dirty="0">
                <a:latin typeface="Arial" pitchFamily="34" charset="0"/>
                <a:cs typeface="Arial" pitchFamily="34" charset="0"/>
              </a:rPr>
              <a:t>Theme- Disaster Management</a:t>
            </a:r>
          </a:p>
          <a:p>
            <a:pPr algn="l"/>
            <a:r>
              <a:rPr lang="en-US" sz="1600" dirty="0">
                <a:latin typeface="Arial" pitchFamily="34" charset="0"/>
                <a:cs typeface="Arial" pitchFamily="34" charset="0"/>
              </a:rPr>
              <a:t>PS Category- Software</a:t>
            </a:r>
          </a:p>
          <a:p>
            <a:pPr algn="l"/>
            <a:r>
              <a:rPr lang="en-US" sz="1600" dirty="0">
                <a:latin typeface="Arial" pitchFamily="34" charset="0"/>
                <a:cs typeface="Arial" pitchFamily="34" charset="0"/>
              </a:rPr>
              <a:t>Team ID- &lt;your team ID&gt;</a:t>
            </a:r>
          </a:p>
          <a:p>
            <a:pPr algn="l"/>
            <a:r>
              <a:rPr lang="en-US" sz="1600" dirty="0">
                <a:latin typeface="Arial" pitchFamily="34" charset="0"/>
                <a:cs typeface="Arial" pitchFamily="34" charset="0"/>
              </a:rPr>
              <a:t>Team Name (Registered on portal)- &lt;your team name&gt;</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2800" b="1" dirty="0">
                <a:latin typeface="Times New Roman" panose="02020603050405020304" pitchFamily="18" charset="0"/>
                <a:cs typeface="Times New Roman" panose="02020603050405020304" pitchFamily="18" charset="0"/>
              </a:rPr>
              <a:t>AIRSHED — 72-HOUR GRAP FORECAST</a:t>
            </a:r>
          </a:p>
        </p:txBody>
      </p:sp>
      <p:sp>
        <p:nvSpPr>
          <p:cNvPr id="15362" name="TextBox 8"/>
          <p:cNvSpPr txBox="1">
            <a:spLocks noChangeArrowheads="1"/>
          </p:cNvSpPr>
          <p:nvPr/>
        </p:nvSpPr>
        <p:spPr bwMode="auto">
          <a:xfrm>
            <a:off x="457200" y="1170432"/>
            <a:ext cx="6903720" cy="4846320"/>
          </a:xfrm>
          <a:prstGeom prst="rect">
            <a:avLst/>
          </a:prstGeom>
          <a:noFill/>
          <a:ln w="9525">
            <a:noFill/>
            <a:miter lim="800000"/>
            <a:headEnd/>
            <a:tailEnd/>
          </a:ln>
        </p:spPr>
        <p:txBody>
          <a:bodyPr wrap="square">
            <a:spAutoFit/>
          </a:bodyPr>
          <a:lstStyle/>
          <a:p>
            <a:pPr marL="342900" indent="-342900">
              <a:buFont typeface="Wingdings" panose="05000000000000000000" pitchFamily="2" charset="2"/>
              <a:buChar char="v"/>
            </a:pPr>
            <a:r>
              <a:rPr lang="en-US" sz="1800" b="1" u="sng" dirty="0">
                <a:solidFill>
                  <a:schemeClr val="tx2"/>
                </a:solidFill>
                <a:latin typeface="Arial" pitchFamily="34" charset="0"/>
                <a:cs typeface="Arial" pitchFamily="34" charset="0"/>
              </a:rPr>
              <a:t>Proposed Solution (Describe your Idea/Solution/Prototype)</a:t>
            </a:r>
          </a:p>
          <a:p>
            <a:pPr marL="285750" indent="-285750" algn="just">
              <a:buFont typeface="Arial" panose="020B0604020202020204" pitchFamily="34" charset="0"/>
              <a:buChar char="•"/>
            </a:pPr>
            <a:r>
              <a:rPr lang="en-US" sz="1350" b="1" dirty="0">
                <a:latin typeface="Arial" pitchFamily="34" charset="0"/>
                <a:cs typeface="Arial" pitchFamily="34" charset="0"/>
              </a:rPr>
              <a:t>Detailed explanation of the proposed solution</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Correct a physics forecast instead of rebuilding one. CAMS (Copernicus) publishes global PM2.5 seven days ahead, free and keyless — but at ~40 km, and biased over India.</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CAMS supplies the future: winds, transport, regional build-up. Our layer supplies the local: station-level bias correction and sub-grid detail.</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Trained on 1.07 M station-hours, 77 CPCB stations, Feb 2025 onward. Every input is an archived forecast, never reanalysis, so training and serving see the same distribution.</a:t>
            </a:r>
          </a:p>
          <a:p>
            <a:pPr marL="285750" indent="-285750" algn="just">
              <a:buFont typeface="Arial" panose="020B0604020202020204" pitchFamily="34" charset="0"/>
              <a:buChar char="•"/>
            </a:pPr>
            <a:r>
              <a:rPr lang="en-US" sz="1350" b="1" dirty="0">
                <a:latin typeface="Arial" pitchFamily="34" charset="0"/>
                <a:cs typeface="Arial" pitchFamily="34" charset="0"/>
              </a:rPr>
              <a:t> How it addresses the problem</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72 h PM2.5 at every station with a 10–90% interval, jointly with boundary-layer height and visibility — pollution and weather as one coupled system, which is what the problem statement asks for.</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The output is the decision, not a number: the probability each GRAP stage I–IV is reached, with lead time and driver attribution ("upwind fires + shallow inversion").</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Stage III is caught at 73.8% recall with 72 h of lead. GRAP measures need days to take effect — that is the difference between a forecast and a warning.</a:t>
            </a:r>
          </a:p>
          <a:p>
            <a:pPr marL="285750" indent="-285750" algn="just">
              <a:buFont typeface="Arial" panose="020B0604020202020204" pitchFamily="34" charset="0"/>
              <a:buChar char="•"/>
            </a:pPr>
            <a:r>
              <a:rPr lang="en-US" sz="1350" b="1" dirty="0">
                <a:latin typeface="Arial" pitchFamily="34" charset="0"/>
                <a:cs typeface="Arial" pitchFamily="34" charset="0"/>
              </a:rPr>
              <a:t>Innovation and uniqueness of the solution </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The baseline is external and published, so beating it is a measured result, not a claim: 31.5% below raw CAMS and 20.6% below persistence, on 5 of 5 seasonal folds.</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Persistence — "tomorrow is like today" — appears in every results table. It beats most published AQ models, and most published AQ models never report it.</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Null results are published beside the wins: fires +0.9%, upwind corridor +0.0%, coupled multi-output −0.1%, each inside its own scatter. The same correction bolts onto the ministry's own model.</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AS_hdr"/>
          <p:cNvSpPr/>
          <p:nvPr/>
        </p:nvSpPr>
        <p:spPr>
          <a:xfrm>
            <a:off x="7607808" y="1298448"/>
            <a:ext cx="4224528" cy="384048"/>
          </a:xfrm>
          <a:prstGeom prst="roundRect">
            <a:avLst>
              <a:gd name="adj" fmla="val 16000"/>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100" b="1">
                <a:solidFill>
                  <a:srgbClr val="FFFFFF"/>
                </a:solidFill>
                <a:latin typeface="Arial"/>
              </a:rPr>
              <a:t>THE CORRECTION STACK</a:t>
            </a:r>
          </a:p>
        </p:txBody>
      </p:sp>
      <p:sp>
        <p:nvSpPr>
          <p:cNvPr id="15364" name="AS_n1"/>
          <p:cNvSpPr/>
          <p:nvPr/>
        </p:nvSpPr>
        <p:spPr>
          <a:xfrm>
            <a:off x="7607808" y="1828800"/>
            <a:ext cx="4224528" cy="786384"/>
          </a:xfrm>
          <a:prstGeom prst="roundRect">
            <a:avLst>
              <a:gd name="adj" fmla="val 10000"/>
            </a:avLst>
          </a:prstGeom>
          <a:solidFill>
            <a:srgbClr val="EEF3F9"/>
          </a:solidFill>
          <a:ln w="12700">
            <a:solidFill>
              <a:srgbClr val="A9BC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00" b="1">
                <a:solidFill>
                  <a:srgbClr val="1F3A5F"/>
                </a:solidFill>
                <a:latin typeface="Arial"/>
              </a:rPr>
              <a:t>CAMS global physics forecast</a:t>
            </a:r>
          </a:p>
          <a:p>
            <a:pPr algn="ctr">
              <a:lnSpc>
                <a:spcPct val="95000"/>
              </a:lnSpc>
            </a:pPr>
            <a:r>
              <a:rPr sz="950" b="0">
                <a:solidFill>
                  <a:srgbClr val="5A6B7D"/>
                </a:solidFill>
                <a:latin typeface="Arial"/>
              </a:rPr>
              <a:t>~40 km · free · 7 days ahead · biased over India</a:t>
            </a:r>
          </a:p>
        </p:txBody>
      </p:sp>
      <p:sp>
        <p:nvSpPr>
          <p:cNvPr id="15365" name="AS_a1"/>
          <p:cNvSpPr/>
          <p:nvPr/>
        </p:nvSpPr>
        <p:spPr>
          <a:xfrm>
            <a:off x="9592056" y="2670048"/>
            <a:ext cx="256032" cy="237744"/>
          </a:xfrm>
          <a:prstGeom prst="downArrow">
            <a:avLst/>
          </a:prstGeom>
          <a:solidFill>
            <a:srgbClr val="2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6" name="AS_n2"/>
          <p:cNvSpPr/>
          <p:nvPr/>
        </p:nvSpPr>
        <p:spPr>
          <a:xfrm>
            <a:off x="7607808" y="2962656"/>
            <a:ext cx="4224528" cy="786384"/>
          </a:xfrm>
          <a:prstGeom prst="roundRect">
            <a:avLst>
              <a:gd name="adj" fmla="val 10000"/>
            </a:avLst>
          </a:prstGeom>
          <a:solidFill>
            <a:srgbClr val="EEF3F9"/>
          </a:solidFill>
          <a:ln w="12700">
            <a:solidFill>
              <a:srgbClr val="A9BC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00" b="1">
                <a:solidFill>
                  <a:srgbClr val="1F3A5F"/>
                </a:solidFill>
                <a:latin typeface="Arial"/>
              </a:rPr>
              <a:t>Local signal we add</a:t>
            </a:r>
          </a:p>
          <a:p>
            <a:pPr algn="ctr">
              <a:lnSpc>
                <a:spcPct val="95000"/>
              </a:lnSpc>
            </a:pPr>
            <a:r>
              <a:rPr sz="950" b="0">
                <a:solidFill>
                  <a:srgbClr val="5A6B7D"/>
                </a:solidFill>
                <a:latin typeface="Arial"/>
              </a:rPr>
              <a:t>77 CPCB stations · GFS wind &amp; boundary layer · FIRMS fires · METAR visibility</a:t>
            </a:r>
          </a:p>
        </p:txBody>
      </p:sp>
      <p:sp>
        <p:nvSpPr>
          <p:cNvPr id="15367" name="AS_a2"/>
          <p:cNvSpPr/>
          <p:nvPr/>
        </p:nvSpPr>
        <p:spPr>
          <a:xfrm>
            <a:off x="9592056" y="3803904"/>
            <a:ext cx="256032" cy="237744"/>
          </a:xfrm>
          <a:prstGeom prst="downArrow">
            <a:avLst/>
          </a:prstGeom>
          <a:solidFill>
            <a:srgbClr val="2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8" name="AS_n3"/>
          <p:cNvSpPr/>
          <p:nvPr/>
        </p:nvSpPr>
        <p:spPr>
          <a:xfrm>
            <a:off x="7607808" y="4096512"/>
            <a:ext cx="4224528" cy="786384"/>
          </a:xfrm>
          <a:prstGeom prst="roundRect">
            <a:avLst>
              <a:gd name="adj" fmla="val 10000"/>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00" b="1">
                <a:solidFill>
                  <a:srgbClr val="FFFFFF"/>
                </a:solidFill>
                <a:latin typeface="Arial"/>
              </a:rPr>
              <a:t>Airshed correction layer</a:t>
            </a:r>
          </a:p>
          <a:p>
            <a:pPr algn="ctr">
              <a:lnSpc>
                <a:spcPct val="95000"/>
              </a:lnSpc>
            </a:pPr>
            <a:r>
              <a:rPr sz="950" b="0">
                <a:solidFill>
                  <a:srgbClr val="C9DAEC"/>
                </a:solidFill>
                <a:latin typeface="Arial"/>
              </a:rPr>
              <a:t>LightGBM quantile · direct 24 / 48 / 72 h heads</a:t>
            </a:r>
          </a:p>
        </p:txBody>
      </p:sp>
      <p:sp>
        <p:nvSpPr>
          <p:cNvPr id="15369" name="AS_a3"/>
          <p:cNvSpPr/>
          <p:nvPr/>
        </p:nvSpPr>
        <p:spPr>
          <a:xfrm>
            <a:off x="9592056" y="4937760"/>
            <a:ext cx="256032" cy="237744"/>
          </a:xfrm>
          <a:prstGeom prst="downArrow">
            <a:avLst/>
          </a:prstGeom>
          <a:solidFill>
            <a:srgbClr val="1E7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0" name="AS_n4"/>
          <p:cNvSpPr/>
          <p:nvPr/>
        </p:nvSpPr>
        <p:spPr>
          <a:xfrm>
            <a:off x="7607808" y="5230368"/>
            <a:ext cx="4224528" cy="786384"/>
          </a:xfrm>
          <a:prstGeom prst="roundRect">
            <a:avLst>
              <a:gd name="adj" fmla="val 10000"/>
            </a:avLst>
          </a:prstGeom>
          <a:solidFill>
            <a:srgbClr val="E3F1EC"/>
          </a:solidFill>
          <a:ln w="12700">
            <a:solidFill>
              <a:srgbClr val="1E7A6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150" b="1">
                <a:solidFill>
                  <a:srgbClr val="1E7A66"/>
                </a:solidFill>
                <a:latin typeface="Arial"/>
              </a:rPr>
              <a:t>PM2.5 p10–p50–p90  ·  0.05° surface</a:t>
            </a:r>
          </a:p>
          <a:p>
            <a:pPr algn="ctr">
              <a:lnSpc>
                <a:spcPct val="95000"/>
              </a:lnSpc>
            </a:pPr>
            <a:r>
              <a:rPr sz="950" b="0">
                <a:solidFill>
                  <a:srgbClr val="1E7A66"/>
                </a:solidFill>
                <a:latin typeface="Arial"/>
              </a:rPr>
              <a:t>GRAP stage probability + driver attribution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17410" name="TextBox 8"/>
          <p:cNvSpPr txBox="1">
            <a:spLocks noChangeArrowheads="1"/>
          </p:cNvSpPr>
          <p:nvPr/>
        </p:nvSpPr>
        <p:spPr bwMode="auto">
          <a:xfrm>
            <a:off x="457200" y="1152144"/>
            <a:ext cx="11292840" cy="1417320"/>
          </a:xfrm>
          <a:prstGeom prst="rect">
            <a:avLst/>
          </a:prstGeom>
          <a:noFill/>
          <a:ln w="9525">
            <a:noFill/>
            <a:miter lim="800000"/>
            <a:headEnd/>
            <a:tailEnd/>
          </a:ln>
        </p:spPr>
        <p:txBody>
          <a:bodyPr wrap="square">
            <a:spAutoFit/>
          </a:bodyPr>
          <a:lstStyle/>
          <a:p>
            <a:pPr marL="285750" indent="-285750" algn="just">
              <a:buFont typeface="Arial" panose="020B0604020202020204" pitchFamily="34" charset="0"/>
              <a:buChar char="•"/>
            </a:pPr>
            <a:r>
              <a:rPr lang="en-US" sz="1350" b="1" dirty="0">
                <a:latin typeface="Arial" pitchFamily="34" charset="0"/>
                <a:cs typeface="Arial" pitchFamily="34" charset="0"/>
              </a:rPr>
              <a:t>Technologies to be used (e.g. programming languages, frameworks, hardware)</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Python 3.11 · LightGBM · Polars · DuckDB over Parquet · FastAPI · MapLibre GL + deck.gl · APScheduler — no GPU, no database server, no paid API or key for the physics: it runs on one laptop.</a:t>
            </a:r>
          </a:p>
          <a:p>
            <a:pPr marL="285750" indent="-285750" algn="just">
              <a:buFont typeface="Arial" panose="020B0604020202020204" pitchFamily="34" charset="0"/>
              <a:buChar char="•"/>
            </a:pPr>
            <a:r>
              <a:rPr lang="en-US" sz="1350" b="1" dirty="0">
                <a:latin typeface="Arial" pitchFamily="34" charset="0"/>
                <a:cs typeface="Arial" pitchFamily="34" charset="0"/>
              </a:rPr>
              <a:t>Methodology and process for implementation (Flow Charts/Images/ working prototype)</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Below, left to right. Direct multi-horizon quantile heads (no recursive rollout, so 72 h error cannot compound), conformal calibration at 85.1% coverage, and a cache the demo never reads past — an upstream outage degrades it instead of killing it.</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AS_stage0"/>
          <p:cNvSpPr txBox="1"/>
          <p:nvPr/>
        </p:nvSpPr>
        <p:spPr>
          <a:xfrm>
            <a:off x="402336" y="2615184"/>
            <a:ext cx="1986076" cy="219456"/>
          </a:xfrm>
          <a:prstGeom prst="rect">
            <a:avLst/>
          </a:prstGeom>
          <a:noFill/>
        </p:spPr>
        <p:txBody>
          <a:bodyPr wrap="square" anchor="ctr" lIns="36576" rIns="36576" tIns="0" bIns="0">
            <a:spAutoFit/>
          </a:bodyPr>
          <a:lstStyle/>
          <a:p>
            <a:pPr algn="ctr"/>
            <a:r>
              <a:rPr sz="900" b="1">
                <a:solidFill>
                  <a:srgbClr val="2F6FB2"/>
                </a:solidFill>
                <a:latin typeface="Arial"/>
              </a:rPr>
              <a:t>SOURCES  (all free)</a:t>
            </a:r>
          </a:p>
        </p:txBody>
      </p:sp>
      <p:sp>
        <p:nvSpPr>
          <p:cNvPr id="17412" name="AS_src0"/>
          <p:cNvSpPr/>
          <p:nvPr/>
        </p:nvSpPr>
        <p:spPr>
          <a:xfrm>
            <a:off x="402336" y="2871216"/>
            <a:ext cx="1986076" cy="563270"/>
          </a:xfrm>
          <a:prstGeom prst="roundRect">
            <a:avLst>
              <a:gd name="adj" fmla="val 14000"/>
            </a:avLst>
          </a:prstGeom>
          <a:solidFill>
            <a:srgbClr val="EEF3F9"/>
          </a:solidFill>
          <a:ln w="12700">
            <a:solidFill>
              <a:srgbClr val="A9BC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50" b="1">
                <a:solidFill>
                  <a:srgbClr val="1F3A5F"/>
                </a:solidFill>
                <a:latin typeface="Arial"/>
              </a:rPr>
              <a:t>CAMS PM2.5 forecast</a:t>
            </a:r>
          </a:p>
          <a:p>
            <a:pPr algn="ctr">
              <a:lnSpc>
                <a:spcPct val="95000"/>
              </a:lnSpc>
            </a:pPr>
            <a:r>
              <a:rPr sz="800" b="0">
                <a:solidFill>
                  <a:srgbClr val="5A6B7D"/>
                </a:solidFill>
                <a:latin typeface="Arial"/>
              </a:rPr>
              <a:t>Open-Meteo · ~40 km · 7 d</a:t>
            </a:r>
          </a:p>
        </p:txBody>
      </p:sp>
      <p:sp>
        <p:nvSpPr>
          <p:cNvPr id="17413" name="AS_src1"/>
          <p:cNvSpPr/>
          <p:nvPr/>
        </p:nvSpPr>
        <p:spPr>
          <a:xfrm>
            <a:off x="402336" y="3516782"/>
            <a:ext cx="1986076" cy="563270"/>
          </a:xfrm>
          <a:prstGeom prst="roundRect">
            <a:avLst>
              <a:gd name="adj" fmla="val 14000"/>
            </a:avLst>
          </a:prstGeom>
          <a:solidFill>
            <a:srgbClr val="EEF3F9"/>
          </a:solidFill>
          <a:ln w="12700">
            <a:solidFill>
              <a:srgbClr val="A9BC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50" b="1">
                <a:solidFill>
                  <a:srgbClr val="1F3A5F"/>
                </a:solidFill>
                <a:latin typeface="Arial"/>
              </a:rPr>
              <a:t>GFS meteorology</a:t>
            </a:r>
          </a:p>
          <a:p>
            <a:pPr algn="ctr">
              <a:lnSpc>
                <a:spcPct val="95000"/>
              </a:lnSpc>
            </a:pPr>
            <a:r>
              <a:rPr sz="800" b="0">
                <a:solidFill>
                  <a:srgbClr val="5A6B7D"/>
                </a:solidFill>
                <a:latin typeface="Arial"/>
              </a:rPr>
              <a:t>wind, boundary layer, humidity</a:t>
            </a:r>
          </a:p>
        </p:txBody>
      </p:sp>
      <p:sp>
        <p:nvSpPr>
          <p:cNvPr id="17414" name="AS_src2"/>
          <p:cNvSpPr/>
          <p:nvPr/>
        </p:nvSpPr>
        <p:spPr>
          <a:xfrm>
            <a:off x="402336" y="4162348"/>
            <a:ext cx="1986076" cy="563270"/>
          </a:xfrm>
          <a:prstGeom prst="roundRect">
            <a:avLst>
              <a:gd name="adj" fmla="val 14000"/>
            </a:avLst>
          </a:prstGeom>
          <a:solidFill>
            <a:srgbClr val="EEF3F9"/>
          </a:solidFill>
          <a:ln w="12700">
            <a:solidFill>
              <a:srgbClr val="A9BC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50" b="1">
                <a:solidFill>
                  <a:srgbClr val="1F3A5F"/>
                </a:solidFill>
                <a:latin typeface="Arial"/>
              </a:rPr>
              <a:t>CPCB CAAQMS ground truth</a:t>
            </a:r>
          </a:p>
          <a:p>
            <a:pPr algn="ctr">
              <a:lnSpc>
                <a:spcPct val="95000"/>
              </a:lnSpc>
            </a:pPr>
            <a:r>
              <a:rPr sz="800" b="0">
                <a:solidFill>
                  <a:srgbClr val="5A6B7D"/>
                </a:solidFill>
                <a:latin typeface="Arial"/>
              </a:rPr>
              <a:t>via OpenAQ · 77 NCR stations</a:t>
            </a:r>
          </a:p>
        </p:txBody>
      </p:sp>
      <p:sp>
        <p:nvSpPr>
          <p:cNvPr id="17415" name="AS_src3"/>
          <p:cNvSpPr/>
          <p:nvPr/>
        </p:nvSpPr>
        <p:spPr>
          <a:xfrm>
            <a:off x="402336" y="4807915"/>
            <a:ext cx="1986076" cy="563270"/>
          </a:xfrm>
          <a:prstGeom prst="roundRect">
            <a:avLst>
              <a:gd name="adj" fmla="val 14000"/>
            </a:avLst>
          </a:prstGeom>
          <a:solidFill>
            <a:srgbClr val="EEF3F9"/>
          </a:solidFill>
          <a:ln w="12700">
            <a:solidFill>
              <a:srgbClr val="A9BC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50" b="1">
                <a:solidFill>
                  <a:srgbClr val="1F3A5F"/>
                </a:solidFill>
                <a:latin typeface="Arial"/>
              </a:rPr>
              <a:t>NASA FIRMS fires</a:t>
            </a:r>
          </a:p>
          <a:p>
            <a:pPr algn="ctr">
              <a:lnSpc>
                <a:spcPct val="95000"/>
              </a:lnSpc>
            </a:pPr>
            <a:r>
              <a:rPr sz="800" b="0">
                <a:solidFill>
                  <a:srgbClr val="5A6B7D"/>
                </a:solidFill>
                <a:latin typeface="Arial"/>
              </a:rPr>
              <a:t>VIIRS/MODIS · upwind load</a:t>
            </a:r>
          </a:p>
        </p:txBody>
      </p:sp>
      <p:sp>
        <p:nvSpPr>
          <p:cNvPr id="17416" name="AS_src4"/>
          <p:cNvSpPr/>
          <p:nvPr/>
        </p:nvSpPr>
        <p:spPr>
          <a:xfrm>
            <a:off x="402336" y="5453481"/>
            <a:ext cx="1986076" cy="563270"/>
          </a:xfrm>
          <a:prstGeom prst="roundRect">
            <a:avLst>
              <a:gd name="adj" fmla="val 14000"/>
            </a:avLst>
          </a:prstGeom>
          <a:solidFill>
            <a:srgbClr val="EEF3F9"/>
          </a:solidFill>
          <a:ln w="12700">
            <a:solidFill>
              <a:srgbClr val="A9BC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50" b="1">
                <a:solidFill>
                  <a:srgbClr val="1F3A5F"/>
                </a:solidFill>
                <a:latin typeface="Arial"/>
              </a:rPr>
              <a:t>METAR visibility</a:t>
            </a:r>
          </a:p>
          <a:p>
            <a:pPr algn="ctr">
              <a:lnSpc>
                <a:spcPct val="95000"/>
              </a:lnSpc>
            </a:pPr>
            <a:r>
              <a:rPr sz="800" b="0">
                <a:solidFill>
                  <a:srgbClr val="5A6B7D"/>
                </a:solidFill>
                <a:latin typeface="Arial"/>
              </a:rPr>
              <a:t>IEM archive · VIDP hourly</a:t>
            </a:r>
          </a:p>
        </p:txBody>
      </p:sp>
      <p:sp>
        <p:nvSpPr>
          <p:cNvPr id="17417" name="AS_ar0"/>
          <p:cNvSpPr/>
          <p:nvPr/>
        </p:nvSpPr>
        <p:spPr>
          <a:xfrm>
            <a:off x="2443276" y="4343400"/>
            <a:ext cx="256032" cy="201168"/>
          </a:xfrm>
          <a:prstGeom prst="rightArrow">
            <a:avLst/>
          </a:prstGeom>
          <a:solidFill>
            <a:srgbClr val="2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AS_stage1"/>
          <p:cNvSpPr txBox="1"/>
          <p:nvPr/>
        </p:nvSpPr>
        <p:spPr>
          <a:xfrm>
            <a:off x="2754172" y="2615184"/>
            <a:ext cx="1986076" cy="219456"/>
          </a:xfrm>
          <a:prstGeom prst="rect">
            <a:avLst/>
          </a:prstGeom>
          <a:noFill/>
        </p:spPr>
        <p:txBody>
          <a:bodyPr wrap="square" anchor="ctr" lIns="36576" rIns="36576" tIns="0" bIns="0">
            <a:spAutoFit/>
          </a:bodyPr>
          <a:lstStyle/>
          <a:p>
            <a:pPr algn="ctr"/>
            <a:r>
              <a:rPr sz="900" b="1">
                <a:solidFill>
                  <a:srgbClr val="2F6FB2"/>
                </a:solidFill>
                <a:latin typeface="Arial"/>
              </a:rPr>
              <a:t>INGEST → CACHE</a:t>
            </a:r>
          </a:p>
        </p:txBody>
      </p:sp>
      <p:sp>
        <p:nvSpPr>
          <p:cNvPr id="17419" name="AS_ingest"/>
          <p:cNvSpPr/>
          <p:nvPr/>
        </p:nvSpPr>
        <p:spPr>
          <a:xfrm>
            <a:off x="2754172" y="3374136"/>
            <a:ext cx="1986076" cy="2139696"/>
          </a:xfrm>
          <a:prstGeom prst="roundRect">
            <a:avLst>
              <a:gd name="adj" fmla="val 8000"/>
            </a:avLst>
          </a:prstGeom>
          <a:solidFill>
            <a:srgbClr val="FFFFFF"/>
          </a:solidFill>
          <a:ln w="12700">
            <a:solidFill>
              <a:srgbClr val="2F6FB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000" b="1">
                <a:solidFill>
                  <a:srgbClr val="1F3A5F"/>
                </a:solidFill>
                <a:latin typeface="Arial"/>
              </a:rPr>
              <a:t>One module per source</a:t>
            </a:r>
          </a:p>
          <a:p>
            <a:pPr algn="ctr">
              <a:lnSpc>
                <a:spcPct val="95000"/>
              </a:lnSpc>
            </a:pPr>
            <a:r>
              <a:rPr sz="850" b="0">
                <a:solidFill>
                  <a:srgbClr val="5A6B7D"/>
                </a:solidFill>
                <a:latin typeface="Arial"/>
              </a:rPr>
              <a:t>fetch(start, end) → Parquet,</a:t>
            </a:r>
          </a:p>
          <a:p>
            <a:pPr algn="ctr">
              <a:lnSpc>
                <a:spcPct val="95000"/>
              </a:lnSpc>
            </a:pPr>
            <a:r>
              <a:rPr sz="850" b="0">
                <a:solidFill>
                  <a:srgbClr val="5A6B7D"/>
                </a:solidFill>
                <a:latin typeface="Arial"/>
              </a:rPr>
              <a:t>partitioned by date, idempotent</a:t>
            </a:r>
          </a:p>
          <a:p>
            <a:pPr algn="ctr">
              <a:lnSpc>
                <a:spcPct val="95000"/>
              </a:lnSpc>
            </a:pPr>
            <a:r>
              <a:rPr sz="500" b="0">
                <a:solidFill>
                  <a:srgbClr val="5A6B7D"/>
                </a:solidFill>
                <a:latin typeface="Arial"/>
              </a:rPr>
              <a:t/>
            </a:r>
          </a:p>
          <a:p>
            <a:pPr algn="ctr">
              <a:lnSpc>
                <a:spcPct val="95000"/>
              </a:lnSpc>
            </a:pPr>
            <a:r>
              <a:rPr sz="850" b="0">
                <a:solidFill>
                  <a:srgbClr val="5A6B7D"/>
                </a:solidFill>
                <a:latin typeface="Arial"/>
              </a:rPr>
              <a:t>DuckDB over Parquet · 9.1 M rows</a:t>
            </a:r>
          </a:p>
          <a:p>
            <a:pPr algn="ctr">
              <a:lnSpc>
                <a:spcPct val="95000"/>
              </a:lnSpc>
            </a:pPr>
            <a:r>
              <a:rPr sz="850" b="0">
                <a:solidFill>
                  <a:srgbClr val="5A6B7D"/>
                </a:solidFill>
                <a:latin typeface="Arial"/>
              </a:rPr>
              <a:t>Hourly UTC index · IST only in the UI</a:t>
            </a:r>
          </a:p>
          <a:p>
            <a:pPr algn="ctr">
              <a:lnSpc>
                <a:spcPct val="95000"/>
              </a:lnSpc>
            </a:pPr>
            <a:r>
              <a:rPr sz="500" b="0">
                <a:solidFill>
                  <a:srgbClr val="5A6B7D"/>
                </a:solidFill>
                <a:latin typeface="Arial"/>
              </a:rPr>
              <a:t/>
            </a:r>
          </a:p>
          <a:p>
            <a:pPr algn="ctr">
              <a:lnSpc>
                <a:spcPct val="95000"/>
              </a:lnSpc>
            </a:pPr>
            <a:r>
              <a:rPr sz="850" b="1">
                <a:solidFill>
                  <a:srgbClr val="2F6FB2"/>
                </a:solidFill>
                <a:latin typeface="Arial"/>
              </a:rPr>
              <a:t>Nothing below this line calls the network</a:t>
            </a:r>
          </a:p>
        </p:txBody>
      </p:sp>
      <p:sp>
        <p:nvSpPr>
          <p:cNvPr id="17420" name="AS_ar1"/>
          <p:cNvSpPr/>
          <p:nvPr/>
        </p:nvSpPr>
        <p:spPr>
          <a:xfrm>
            <a:off x="4795113" y="4343400"/>
            <a:ext cx="256032" cy="201168"/>
          </a:xfrm>
          <a:prstGeom prst="rightArrow">
            <a:avLst/>
          </a:prstGeom>
          <a:solidFill>
            <a:srgbClr val="2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AS_stage2"/>
          <p:cNvSpPr txBox="1"/>
          <p:nvPr/>
        </p:nvSpPr>
        <p:spPr>
          <a:xfrm>
            <a:off x="5106009" y="2615184"/>
            <a:ext cx="1986076" cy="219456"/>
          </a:xfrm>
          <a:prstGeom prst="rect">
            <a:avLst/>
          </a:prstGeom>
          <a:noFill/>
        </p:spPr>
        <p:txBody>
          <a:bodyPr wrap="square" anchor="ctr" lIns="36576" rIns="36576" tIns="0" bIns="0">
            <a:spAutoFit/>
          </a:bodyPr>
          <a:lstStyle/>
          <a:p>
            <a:pPr algn="ctr"/>
            <a:r>
              <a:rPr sz="900" b="1">
                <a:solidFill>
                  <a:srgbClr val="2F6FB2"/>
                </a:solidFill>
                <a:latin typeface="Arial"/>
              </a:rPr>
              <a:t>FEATURES</a:t>
            </a:r>
          </a:p>
        </p:txBody>
      </p:sp>
      <p:sp>
        <p:nvSpPr>
          <p:cNvPr id="17422" name="AS_feat"/>
          <p:cNvSpPr/>
          <p:nvPr/>
        </p:nvSpPr>
        <p:spPr>
          <a:xfrm>
            <a:off x="5106009" y="3374136"/>
            <a:ext cx="1986076" cy="2139696"/>
          </a:xfrm>
          <a:prstGeom prst="roundRect">
            <a:avLst>
              <a:gd name="adj" fmla="val 8000"/>
            </a:avLst>
          </a:prstGeom>
          <a:solidFill>
            <a:srgbClr val="FFFFFF"/>
          </a:solidFill>
          <a:ln w="12700">
            <a:solidFill>
              <a:srgbClr val="2F6FB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000" b="1">
                <a:solidFill>
                  <a:srgbClr val="1F3A5F"/>
                </a:solidFill>
                <a:latin typeface="Arial"/>
              </a:rPr>
              <a:t>Aligned supervised table</a:t>
            </a:r>
          </a:p>
          <a:p>
            <a:pPr algn="ctr">
              <a:lnSpc>
                <a:spcPct val="95000"/>
              </a:lnSpc>
            </a:pPr>
            <a:r>
              <a:rPr sz="850" b="0">
                <a:solidFill>
                  <a:srgbClr val="5A6B7D"/>
                </a:solidFill>
                <a:latin typeface="Arial"/>
              </a:rPr>
              <a:t>1.07 M station-hours</a:t>
            </a:r>
          </a:p>
          <a:p>
            <a:pPr algn="ctr">
              <a:lnSpc>
                <a:spcPct val="95000"/>
              </a:lnSpc>
            </a:pPr>
            <a:r>
              <a:rPr sz="500" b="0">
                <a:solidFill>
                  <a:srgbClr val="5A6B7D"/>
                </a:solidFill>
                <a:latin typeface="Arial"/>
              </a:rPr>
              <a:t/>
            </a:r>
          </a:p>
          <a:p>
            <a:pPr algn="ctr">
              <a:lnSpc>
                <a:spcPct val="95000"/>
              </a:lnSpc>
            </a:pPr>
            <a:r>
              <a:rPr sz="850" b="0">
                <a:solidFill>
                  <a:srgbClr val="5A6B7D"/>
                </a:solidFill>
                <a:latin typeface="Arial"/>
              </a:rPr>
              <a:t>CAMS at the target hour</a:t>
            </a:r>
          </a:p>
          <a:p>
            <a:pPr algn="ctr">
              <a:lnSpc>
                <a:spcPct val="95000"/>
              </a:lnSpc>
            </a:pPr>
            <a:r>
              <a:rPr sz="850" b="0">
                <a:solidFill>
                  <a:srgbClr val="5A6B7D"/>
                </a:solidFill>
                <a:latin typeface="Arial"/>
              </a:rPr>
              <a:t>Observation lags &amp; rolling means</a:t>
            </a:r>
          </a:p>
          <a:p>
            <a:pPr algn="ctr">
              <a:lnSpc>
                <a:spcPct val="95000"/>
              </a:lnSpc>
            </a:pPr>
            <a:r>
              <a:rPr sz="850" b="0">
                <a:solidFill>
                  <a:srgbClr val="5A6B7D"/>
                </a:solidFill>
                <a:latin typeface="Arial"/>
              </a:rPr>
              <a:t>Meteorology at true forecast lead</a:t>
            </a:r>
          </a:p>
          <a:p>
            <a:pPr algn="ctr">
              <a:lnSpc>
                <a:spcPct val="95000"/>
              </a:lnSpc>
            </a:pPr>
            <a:r>
              <a:rPr sz="850" b="0">
                <a:solidFill>
                  <a:srgbClr val="5A6B7D"/>
                </a:solidFill>
                <a:latin typeface="Arial"/>
              </a:rPr>
              <a:t>Upwind fire load · calendar &amp; season</a:t>
            </a:r>
          </a:p>
          <a:p>
            <a:pPr algn="ctr">
              <a:lnSpc>
                <a:spcPct val="95000"/>
              </a:lnSpc>
            </a:pPr>
            <a:r>
              <a:rPr sz="500" b="0">
                <a:solidFill>
                  <a:srgbClr val="5A6B7D"/>
                </a:solidFill>
                <a:latin typeface="Arial"/>
              </a:rPr>
              <a:t/>
            </a:r>
          </a:p>
          <a:p>
            <a:pPr algn="ctr">
              <a:lnSpc>
                <a:spcPct val="95000"/>
              </a:lnSpc>
            </a:pPr>
            <a:r>
              <a:rPr sz="850" b="1">
                <a:solidFill>
                  <a:srgbClr val="2F6FB2"/>
                </a:solidFill>
                <a:latin typeface="Arial"/>
              </a:rPr>
              <a:t>Split by time block, never at random</a:t>
            </a:r>
          </a:p>
        </p:txBody>
      </p:sp>
      <p:sp>
        <p:nvSpPr>
          <p:cNvPr id="17423" name="AS_ar2"/>
          <p:cNvSpPr/>
          <p:nvPr/>
        </p:nvSpPr>
        <p:spPr>
          <a:xfrm>
            <a:off x="7146950" y="4343400"/>
            <a:ext cx="256032" cy="201168"/>
          </a:xfrm>
          <a:prstGeom prst="rightArrow">
            <a:avLst/>
          </a:prstGeom>
          <a:solidFill>
            <a:srgbClr val="2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AS_stage3"/>
          <p:cNvSpPr txBox="1"/>
          <p:nvPr/>
        </p:nvSpPr>
        <p:spPr>
          <a:xfrm>
            <a:off x="7457846" y="2615184"/>
            <a:ext cx="1986076" cy="219456"/>
          </a:xfrm>
          <a:prstGeom prst="rect">
            <a:avLst/>
          </a:prstGeom>
          <a:noFill/>
        </p:spPr>
        <p:txBody>
          <a:bodyPr wrap="square" anchor="ctr" lIns="36576" rIns="36576" tIns="0" bIns="0">
            <a:spAutoFit/>
          </a:bodyPr>
          <a:lstStyle/>
          <a:p>
            <a:pPr algn="ctr"/>
            <a:r>
              <a:rPr sz="900" b="1">
                <a:solidFill>
                  <a:srgbClr val="2F6FB2"/>
                </a:solidFill>
                <a:latin typeface="Arial"/>
              </a:rPr>
              <a:t>CORRECT</a:t>
            </a:r>
          </a:p>
        </p:txBody>
      </p:sp>
      <p:sp>
        <p:nvSpPr>
          <p:cNvPr id="17425" name="AS_model"/>
          <p:cNvSpPr/>
          <p:nvPr/>
        </p:nvSpPr>
        <p:spPr>
          <a:xfrm>
            <a:off x="7457846" y="2871216"/>
            <a:ext cx="1986076" cy="1874519"/>
          </a:xfrm>
          <a:prstGeom prst="roundRect">
            <a:avLst>
              <a:gd name="adj" fmla="val 8000"/>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050" b="1">
                <a:solidFill>
                  <a:srgbClr val="FFFFFF"/>
                </a:solidFill>
                <a:latin typeface="Arial"/>
              </a:rPr>
              <a:t>LightGBM corrector</a:t>
            </a:r>
          </a:p>
          <a:p>
            <a:pPr algn="ctr">
              <a:lnSpc>
                <a:spcPct val="95000"/>
              </a:lnSpc>
            </a:pPr>
            <a:r>
              <a:rPr sz="850" b="0">
                <a:solidFill>
                  <a:srgbClr val="C9DAEC"/>
                </a:solidFill>
                <a:latin typeface="Arial"/>
              </a:rPr>
              <a:t>9 quantile heads —</a:t>
            </a:r>
          </a:p>
          <a:p>
            <a:pPr algn="ctr">
              <a:lnSpc>
                <a:spcPct val="95000"/>
              </a:lnSpc>
            </a:pPr>
            <a:r>
              <a:rPr sz="850" b="0">
                <a:solidFill>
                  <a:srgbClr val="C9DAEC"/>
                </a:solidFill>
                <a:latin typeface="Arial"/>
              </a:rPr>
              <a:t>24/48/72 h × p10/p50/p90</a:t>
            </a:r>
          </a:p>
          <a:p>
            <a:pPr algn="ctr">
              <a:lnSpc>
                <a:spcPct val="95000"/>
              </a:lnSpc>
            </a:pPr>
            <a:r>
              <a:rPr sz="850" b="0">
                <a:solidFill>
                  <a:srgbClr val="C9DAEC"/>
                </a:solidFill>
                <a:latin typeface="Arial"/>
              </a:rPr>
              <a:t>Direct heads: no recursive rollout</a:t>
            </a:r>
          </a:p>
          <a:p>
            <a:pPr algn="ctr">
              <a:lnSpc>
                <a:spcPct val="95000"/>
              </a:lnSpc>
            </a:pPr>
            <a:r>
              <a:rPr sz="850" b="0">
                <a:solidFill>
                  <a:srgbClr val="C9DAEC"/>
                </a:solidFill>
                <a:latin typeface="Arial"/>
              </a:rPr>
              <a:t>Conformal calibration → 85.1% coverage</a:t>
            </a:r>
          </a:p>
        </p:txBody>
      </p:sp>
      <p:sp>
        <p:nvSpPr>
          <p:cNvPr id="17426" name="AS_eval"/>
          <p:cNvSpPr/>
          <p:nvPr/>
        </p:nvSpPr>
        <p:spPr>
          <a:xfrm>
            <a:off x="7457846" y="4882896"/>
            <a:ext cx="1986076" cy="1133855"/>
          </a:xfrm>
          <a:prstGeom prst="roundRect">
            <a:avLst>
              <a:gd name="adj" fmla="val 10000"/>
            </a:avLst>
          </a:prstGeom>
          <a:solidFill>
            <a:srgbClr val="FDF1DF"/>
          </a:solidFill>
          <a:ln w="12700">
            <a:solidFill>
              <a:srgbClr val="B26A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50" b="1">
                <a:solidFill>
                  <a:srgbClr val="B26A00"/>
                </a:solidFill>
                <a:latin typeface="Arial"/>
              </a:rPr>
              <a:t>Baselines &amp; evaluation</a:t>
            </a:r>
          </a:p>
          <a:p>
            <a:pPr algn="ctr">
              <a:lnSpc>
                <a:spcPct val="95000"/>
              </a:lnSpc>
            </a:pPr>
            <a:r>
              <a:rPr sz="800" b="0">
                <a:solidFill>
                  <a:srgbClr val="B26A00"/>
                </a:solidFill>
                <a:latin typeface="Arial"/>
              </a:rPr>
              <a:t>persistence · raw CAMS · scaled CAMS</a:t>
            </a:r>
          </a:p>
          <a:p>
            <a:pPr algn="ctr">
              <a:lnSpc>
                <a:spcPct val="95000"/>
              </a:lnSpc>
            </a:pPr>
            <a:r>
              <a:rPr sz="800" b="0">
                <a:solidFill>
                  <a:srgbClr val="B26A00"/>
                </a:solidFill>
                <a:latin typeface="Arial"/>
              </a:rPr>
              <a:t>5 rolling-origin folds, whole-season holdout</a:t>
            </a:r>
          </a:p>
        </p:txBody>
      </p:sp>
      <p:sp>
        <p:nvSpPr>
          <p:cNvPr id="17427" name="AS_ar3"/>
          <p:cNvSpPr/>
          <p:nvPr/>
        </p:nvSpPr>
        <p:spPr>
          <a:xfrm>
            <a:off x="9498787" y="4343400"/>
            <a:ext cx="256032" cy="201168"/>
          </a:xfrm>
          <a:prstGeom prst="rightArrow">
            <a:avLst/>
          </a:prstGeom>
          <a:solidFill>
            <a:srgbClr val="1E7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AS_stage4"/>
          <p:cNvSpPr txBox="1"/>
          <p:nvPr/>
        </p:nvSpPr>
        <p:spPr>
          <a:xfrm>
            <a:off x="9809683" y="2615184"/>
            <a:ext cx="1986076" cy="219456"/>
          </a:xfrm>
          <a:prstGeom prst="rect">
            <a:avLst/>
          </a:prstGeom>
          <a:noFill/>
        </p:spPr>
        <p:txBody>
          <a:bodyPr wrap="square" anchor="ctr" lIns="36576" rIns="36576" tIns="0" bIns="0">
            <a:spAutoFit/>
          </a:bodyPr>
          <a:lstStyle/>
          <a:p>
            <a:pPr algn="ctr"/>
            <a:r>
              <a:rPr sz="900" b="1">
                <a:solidFill>
                  <a:srgbClr val="2F6FB2"/>
                </a:solidFill>
                <a:latin typeface="Arial"/>
              </a:rPr>
              <a:t>DECIDE → SERVE</a:t>
            </a:r>
          </a:p>
        </p:txBody>
      </p:sp>
      <p:sp>
        <p:nvSpPr>
          <p:cNvPr id="17429" name="AS_out0"/>
          <p:cNvSpPr/>
          <p:nvPr/>
        </p:nvSpPr>
        <p:spPr>
          <a:xfrm>
            <a:off x="9809683" y="2871216"/>
            <a:ext cx="1986076" cy="969263"/>
          </a:xfrm>
          <a:prstGeom prst="roundRect">
            <a:avLst>
              <a:gd name="adj" fmla="val 10000"/>
            </a:avLst>
          </a:prstGeom>
          <a:solidFill>
            <a:srgbClr val="E3F1EC"/>
          </a:solidFill>
          <a:ln w="12700">
            <a:solidFill>
              <a:srgbClr val="1E7A6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50" b="1">
                <a:solidFill>
                  <a:srgbClr val="1E7A66"/>
                </a:solidFill>
                <a:latin typeface="Arial"/>
              </a:rPr>
              <a:t>GRAP stage probability</a:t>
            </a:r>
          </a:p>
          <a:p>
            <a:pPr algn="ctr">
              <a:lnSpc>
                <a:spcPct val="95000"/>
              </a:lnSpc>
            </a:pPr>
            <a:r>
              <a:rPr sz="800" b="0">
                <a:solidFill>
                  <a:srgbClr val="1E7A66"/>
                </a:solidFill>
                <a:latin typeface="Arial"/>
              </a:rPr>
              <a:t>P(stage I–IV) + lead time; SHAP grouped</a:t>
            </a:r>
          </a:p>
          <a:p>
            <a:pPr algn="ctr">
              <a:lnSpc>
                <a:spcPct val="95000"/>
              </a:lnSpc>
            </a:pPr>
            <a:r>
              <a:rPr sz="800" b="0">
                <a:solidFill>
                  <a:srgbClr val="1E7A66"/>
                </a:solidFill>
                <a:latin typeface="Arial"/>
              </a:rPr>
              <a:t>into human causes</a:t>
            </a:r>
          </a:p>
        </p:txBody>
      </p:sp>
      <p:sp>
        <p:nvSpPr>
          <p:cNvPr id="17430" name="AS_out1"/>
          <p:cNvSpPr/>
          <p:nvPr/>
        </p:nvSpPr>
        <p:spPr>
          <a:xfrm>
            <a:off x="9809683" y="3959352"/>
            <a:ext cx="1986076" cy="969263"/>
          </a:xfrm>
          <a:prstGeom prst="roundRect">
            <a:avLst>
              <a:gd name="adj" fmla="val 10000"/>
            </a:avLst>
          </a:prstGeom>
          <a:solidFill>
            <a:srgbClr val="E3F1EC"/>
          </a:solidFill>
          <a:ln w="12700">
            <a:solidFill>
              <a:srgbClr val="1E7A6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50" b="1">
                <a:solidFill>
                  <a:srgbClr val="1E7A66"/>
                </a:solidFill>
                <a:latin typeface="Arial"/>
              </a:rPr>
              <a:t>Downscaled surface</a:t>
            </a:r>
          </a:p>
          <a:p>
            <a:pPr algn="ctr">
              <a:lnSpc>
                <a:spcPct val="95000"/>
              </a:lnSpc>
            </a:pPr>
            <a:r>
              <a:rPr sz="800" b="0">
                <a:solidFill>
                  <a:srgbClr val="1E7A66"/>
                </a:solidFill>
                <a:latin typeface="Arial"/>
              </a:rPr>
              <a:t>Wind-aware graph → 0.05° grid, each cell</a:t>
            </a:r>
          </a:p>
          <a:p>
            <a:pPr algn="ctr">
              <a:lnSpc>
                <a:spcPct val="95000"/>
              </a:lnSpc>
            </a:pPr>
            <a:r>
              <a:rPr sz="800" b="0">
                <a:solidFill>
                  <a:srgbClr val="1E7A66"/>
                </a:solidFill>
                <a:latin typeface="Arial"/>
              </a:rPr>
              <a:t>carrying its distance to a monitor</a:t>
            </a:r>
          </a:p>
        </p:txBody>
      </p:sp>
      <p:sp>
        <p:nvSpPr>
          <p:cNvPr id="17431" name="AS_out2"/>
          <p:cNvSpPr/>
          <p:nvPr/>
        </p:nvSpPr>
        <p:spPr>
          <a:xfrm>
            <a:off x="9809683" y="5047488"/>
            <a:ext cx="1986076" cy="969263"/>
          </a:xfrm>
          <a:prstGeom prst="roundRect">
            <a:avLst>
              <a:gd name="adj" fmla="val 10000"/>
            </a:avLst>
          </a:prstGeom>
          <a:solidFill>
            <a:srgbClr val="E3F1EC"/>
          </a:solidFill>
          <a:ln w="12700">
            <a:solidFill>
              <a:srgbClr val="1E7A6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50" b="1">
                <a:solidFill>
                  <a:srgbClr val="1E7A66"/>
                </a:solidFill>
                <a:latin typeface="Arial"/>
              </a:rPr>
              <a:t>FastAPI + MapLibre dashboard</a:t>
            </a:r>
          </a:p>
          <a:p>
            <a:pPr algn="ctr">
              <a:lnSpc>
                <a:spcPct val="95000"/>
              </a:lnSpc>
            </a:pPr>
            <a:r>
              <a:rPr sz="800" b="0">
                <a:solidFill>
                  <a:srgbClr val="1E7A66"/>
                </a:solidFill>
                <a:latin typeface="Arial"/>
              </a:rPr>
              <a:t>/forecast /replay /grap · scheduled refresh</a:t>
            </a:r>
          </a:p>
          <a:p>
            <a:pPr algn="ctr">
              <a:lnSpc>
                <a:spcPct val="95000"/>
              </a:lnSpc>
            </a:pPr>
            <a:r>
              <a:rPr sz="800" b="0">
                <a:solidFill>
                  <a:srgbClr val="1E7A66"/>
                </a:solidFill>
                <a:latin typeface="Arial"/>
              </a:rPr>
              <a:t>with a visible "last synced" age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TextBox 8"/>
          <p:cNvSpPr txBox="1">
            <a:spLocks noChangeArrowheads="1"/>
          </p:cNvSpPr>
          <p:nvPr/>
        </p:nvSpPr>
        <p:spPr bwMode="auto">
          <a:xfrm>
            <a:off x="457200" y="1152144"/>
            <a:ext cx="6446520" cy="4892040"/>
          </a:xfrm>
          <a:prstGeom prst="rect">
            <a:avLst/>
          </a:prstGeom>
          <a:noFill/>
          <a:ln w="9525">
            <a:noFill/>
            <a:miter lim="800000"/>
            <a:headEnd/>
            <a:tailEnd/>
          </a:ln>
        </p:spPr>
        <p:txBody>
          <a:bodyPr wrap="square">
            <a:spAutoFit/>
          </a:bodyPr>
          <a:lstStyle/>
          <a:p>
            <a:pPr marL="285750" indent="-285750" algn="just">
              <a:buFont typeface="Arial" panose="020B0604020202020204" pitchFamily="34" charset="0"/>
              <a:buChar char="•"/>
            </a:pPr>
            <a:r>
              <a:rPr lang="en-US" sz="1350" b="1" dirty="0">
                <a:latin typeface="Arial" pitchFamily="34" charset="0"/>
                <a:cs typeface="Arial" pitchFamily="34" charset="0"/>
              </a:rPr>
              <a:t>Analysis of the feasibility of the idea</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Built and running end-to-end, not a proposal: 9.1 M cached rows, 77 stations, live 72 h forecast, historical replay, GRAP probabilities and a downscaled surface — the panels at right are that system, running today.</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Zero data cost and zero licence cost. A resident archive job re-checks every 30 minutes and asks whether today's run is in the store, so sleep and reboots cannot make it miss.</a:t>
            </a:r>
          </a:p>
          <a:p>
            <a:pPr marL="285750" indent="-285750" algn="just">
              <a:buFont typeface="Arial" panose="020B0604020202020204" pitchFamily="34" charset="0"/>
              <a:buChar char="•"/>
            </a:pPr>
            <a:r>
              <a:rPr lang="en-US" sz="1350" b="1" dirty="0">
                <a:latin typeface="Arial" pitchFamily="34" charset="0"/>
                <a:cs typeface="Arial" pitchFamily="34" charset="0"/>
              </a:rPr>
              <a:t>Potential challenges and risks</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One winter of trainable ground truth, so effects of a few percent cannot yet be separated from seasonal noise.</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Train/serve gap: archived CAMS and live CAMS differ by −32 µg/m³ at day 2 on 3 run days; 20 settled days are needed before a correction for it can honestly be fitted.</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CPCB stations go offline and relocate, and a nine-day January 2026 hole is upstream and unrecoverable.</a:t>
            </a:r>
          </a:p>
          <a:p>
            <a:pPr marL="285750" indent="-285750" algn="just">
              <a:buFont typeface="Arial" panose="020B0604020202020204" pitchFamily="34" charset="0"/>
              <a:buChar char="•"/>
            </a:pPr>
            <a:r>
              <a:rPr lang="en-US" sz="1350" b="1" dirty="0">
                <a:latin typeface="Arial" pitchFamily="34" charset="0"/>
                <a:cs typeface="Arial" pitchFamily="34" charset="0"/>
              </a:rPr>
              <a:t>Strategies for overcoming these challenges</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Persistence in every table, whole-season holdout with a 96 h embargo, and 5 rolling-origin folds — a gain smaller than its own spread is reported as "cannot tell", not as a win.</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Station gaps are treated as missing, never interpolated, and the CAMS run gap is shown on the dashboard as a "known bias" note instead of being quietly absorbed into the forecast.</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Everything is cached and re-runnable offline; November 2026 is a second episode season that settles the open questions in one run.</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AS_shdr"/>
          <p:cNvSpPr txBox="1"/>
          <p:nvPr/>
        </p:nvSpPr>
        <p:spPr>
          <a:xfrm>
            <a:off x="7114032" y="1170432"/>
            <a:ext cx="4709160" cy="219456"/>
          </a:xfrm>
          <a:prstGeom prst="rect">
            <a:avLst/>
          </a:prstGeom>
          <a:noFill/>
        </p:spPr>
        <p:txBody>
          <a:bodyPr wrap="square" anchor="ctr" lIns="36576" rIns="36576" tIns="0" bIns="0">
            <a:spAutoFit/>
          </a:bodyPr>
          <a:lstStyle/>
          <a:p>
            <a:pPr algn="l"/>
            <a:r>
              <a:rPr sz="1000" b="1">
                <a:solidFill>
                  <a:srgbClr val="2F6FB2"/>
                </a:solidFill>
                <a:latin typeface="Arial"/>
              </a:rPr>
              <a:t>THE SYSTEM AS IT RUNS TODAY</a:t>
            </a:r>
          </a:p>
        </p:txBody>
      </p:sp>
      <p:pic>
        <p:nvPicPr>
          <p:cNvPr id="17412" name="AS_shot1" descr="image.png"/>
          <p:cNvPicPr>
            <a:picLocks noChangeAspect="1"/>
          </p:cNvPicPr>
          <p:nvPr/>
        </p:nvPicPr>
        <p:blipFill>
          <a:blip r:embed="rId4"/>
          <a:stretch>
            <a:fillRect/>
          </a:stretch>
        </p:blipFill>
        <p:spPr>
          <a:xfrm>
            <a:off x="7114032" y="1426464"/>
            <a:ext cx="4709160" cy="1384003"/>
          </a:xfrm>
          <a:prstGeom prst="rect">
            <a:avLst/>
          </a:prstGeom>
        </p:spPr>
      </p:pic>
      <p:pic>
        <p:nvPicPr>
          <p:cNvPr id="17413" name="AS_shot2" descr="image.png"/>
          <p:cNvPicPr>
            <a:picLocks noChangeAspect="1"/>
          </p:cNvPicPr>
          <p:nvPr/>
        </p:nvPicPr>
        <p:blipFill>
          <a:blip r:embed="rId5"/>
          <a:stretch>
            <a:fillRect/>
          </a:stretch>
        </p:blipFill>
        <p:spPr>
          <a:xfrm>
            <a:off x="7114032" y="2929339"/>
            <a:ext cx="4709160" cy="2343762"/>
          </a:xfrm>
          <a:prstGeom prst="rect">
            <a:avLst/>
          </a:prstGeom>
        </p:spPr>
      </p:pic>
      <p:sp>
        <p:nvSpPr>
          <p:cNvPr id="17414" name="AS_scap"/>
          <p:cNvSpPr txBox="1"/>
          <p:nvPr/>
        </p:nvSpPr>
        <p:spPr>
          <a:xfrm>
            <a:off x="7114032" y="5337109"/>
            <a:ext cx="4709160" cy="292608"/>
          </a:xfrm>
          <a:prstGeom prst="rect">
            <a:avLst/>
          </a:prstGeom>
          <a:noFill/>
        </p:spPr>
        <p:txBody>
          <a:bodyPr wrap="square" anchor="t" lIns="36576" rIns="36576" tIns="0" bIns="0">
            <a:spAutoFit/>
          </a:bodyPr>
          <a:lstStyle/>
          <a:p>
            <a:pPr algn="l"/>
            <a:r>
              <a:rPr sz="800" b="0">
                <a:solidFill>
                  <a:srgbClr val="5A6B7D"/>
                </a:solidFill>
                <a:latin typeface="Arial"/>
              </a:rPr>
              <a:t>Live 72 h forecast with intervals and GRAP probability; wind-aware downscaled surface over the 77-station network. Both read the local cache.</a:t>
            </a:r>
          </a:p>
        </p:txBody>
      </p:sp>
      <p:sp>
        <p:nvSpPr>
          <p:cNvPr id="17415" name="AS_stat0"/>
          <p:cNvSpPr/>
          <p:nvPr/>
        </p:nvSpPr>
        <p:spPr>
          <a:xfrm>
            <a:off x="7114032" y="5702869"/>
            <a:ext cx="1108710" cy="475488"/>
          </a:xfrm>
          <a:prstGeom prst="roundRect">
            <a:avLst>
              <a:gd name="adj" fmla="val 14000"/>
            </a:avLst>
          </a:prstGeom>
          <a:solidFill>
            <a:srgbClr val="EEF3F9"/>
          </a:solidFill>
          <a:ln w="12700">
            <a:solidFill>
              <a:srgbClr val="A9BC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00" b="1">
                <a:solidFill>
                  <a:srgbClr val="1F3A5F"/>
                </a:solidFill>
                <a:latin typeface="Arial"/>
              </a:rPr>
              <a:t>9.1 M</a:t>
            </a:r>
          </a:p>
          <a:p>
            <a:pPr algn="ctr">
              <a:lnSpc>
                <a:spcPct val="95000"/>
              </a:lnSpc>
            </a:pPr>
            <a:r>
              <a:rPr sz="800" b="0">
                <a:solidFill>
                  <a:srgbClr val="5A6B7D"/>
                </a:solidFill>
                <a:latin typeface="Arial"/>
              </a:rPr>
              <a:t>rows cached</a:t>
            </a:r>
          </a:p>
        </p:txBody>
      </p:sp>
      <p:sp>
        <p:nvSpPr>
          <p:cNvPr id="17416" name="AS_stat1"/>
          <p:cNvSpPr/>
          <p:nvPr/>
        </p:nvSpPr>
        <p:spPr>
          <a:xfrm>
            <a:off x="8314182" y="5702869"/>
            <a:ext cx="1108710" cy="475488"/>
          </a:xfrm>
          <a:prstGeom prst="roundRect">
            <a:avLst>
              <a:gd name="adj" fmla="val 14000"/>
            </a:avLst>
          </a:prstGeom>
          <a:solidFill>
            <a:srgbClr val="EEF3F9"/>
          </a:solidFill>
          <a:ln w="12700">
            <a:solidFill>
              <a:srgbClr val="A9BC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00" b="1">
                <a:solidFill>
                  <a:srgbClr val="1F3A5F"/>
                </a:solidFill>
                <a:latin typeface="Arial"/>
              </a:rPr>
              <a:t>77</a:t>
            </a:r>
          </a:p>
          <a:p>
            <a:pPr algn="ctr">
              <a:lnSpc>
                <a:spcPct val="95000"/>
              </a:lnSpc>
            </a:pPr>
            <a:r>
              <a:rPr sz="800" b="0">
                <a:solidFill>
                  <a:srgbClr val="5A6B7D"/>
                </a:solidFill>
                <a:latin typeface="Arial"/>
              </a:rPr>
              <a:t>NCR stations</a:t>
            </a:r>
          </a:p>
        </p:txBody>
      </p:sp>
      <p:sp>
        <p:nvSpPr>
          <p:cNvPr id="17417" name="AS_stat2"/>
          <p:cNvSpPr/>
          <p:nvPr/>
        </p:nvSpPr>
        <p:spPr>
          <a:xfrm>
            <a:off x="9514332" y="5702869"/>
            <a:ext cx="1108710" cy="475488"/>
          </a:xfrm>
          <a:prstGeom prst="roundRect">
            <a:avLst>
              <a:gd name="adj" fmla="val 14000"/>
            </a:avLst>
          </a:prstGeom>
          <a:solidFill>
            <a:srgbClr val="EEF3F9"/>
          </a:solidFill>
          <a:ln w="12700">
            <a:solidFill>
              <a:srgbClr val="A9BC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00" b="1">
                <a:solidFill>
                  <a:srgbClr val="1F3A5F"/>
                </a:solidFill>
                <a:latin typeface="Arial"/>
              </a:rPr>
              <a:t>740 d</a:t>
            </a:r>
          </a:p>
          <a:p>
            <a:pPr algn="ctr">
              <a:lnSpc>
                <a:spcPct val="95000"/>
              </a:lnSpc>
            </a:pPr>
            <a:r>
              <a:rPr sz="800" b="0">
                <a:solidFill>
                  <a:srgbClr val="5A6B7D"/>
                </a:solidFill>
                <a:latin typeface="Arial"/>
              </a:rPr>
              <a:t>CAMS archive</a:t>
            </a:r>
          </a:p>
        </p:txBody>
      </p:sp>
      <p:sp>
        <p:nvSpPr>
          <p:cNvPr id="17418" name="AS_stat3"/>
          <p:cNvSpPr/>
          <p:nvPr/>
        </p:nvSpPr>
        <p:spPr>
          <a:xfrm>
            <a:off x="10714482" y="5702869"/>
            <a:ext cx="1108710" cy="475488"/>
          </a:xfrm>
          <a:prstGeom prst="roundRect">
            <a:avLst>
              <a:gd name="adj" fmla="val 14000"/>
            </a:avLst>
          </a:prstGeom>
          <a:solidFill>
            <a:srgbClr val="EEF3F9"/>
          </a:solidFill>
          <a:ln w="12700">
            <a:solidFill>
              <a:srgbClr val="A9BC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200" b="1">
                <a:solidFill>
                  <a:srgbClr val="1F3A5F"/>
                </a:solidFill>
                <a:latin typeface="Arial"/>
              </a:rPr>
              <a:t>₹0</a:t>
            </a:r>
          </a:p>
          <a:p>
            <a:pPr algn="ctr">
              <a:lnSpc>
                <a:spcPct val="95000"/>
              </a:lnSpc>
            </a:pPr>
            <a:r>
              <a:rPr sz="800" b="0">
                <a:solidFill>
                  <a:srgbClr val="5A6B7D"/>
                </a:solidFill>
                <a:latin typeface="Arial"/>
              </a:rPr>
              <a:t>data cost</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17410" name="TextBox 8"/>
          <p:cNvSpPr txBox="1">
            <a:spLocks noChangeArrowheads="1"/>
          </p:cNvSpPr>
          <p:nvPr/>
        </p:nvSpPr>
        <p:spPr bwMode="auto">
          <a:xfrm>
            <a:off x="457200" y="1152144"/>
            <a:ext cx="6720840" cy="4892040"/>
          </a:xfrm>
          <a:prstGeom prst="rect">
            <a:avLst/>
          </a:prstGeom>
          <a:noFill/>
          <a:ln w="9525">
            <a:noFill/>
            <a:miter lim="800000"/>
            <a:headEnd/>
            <a:tailEnd/>
          </a:ln>
        </p:spPr>
        <p:txBody>
          <a:bodyPr wrap="square">
            <a:spAutoFit/>
          </a:bodyPr>
          <a:lstStyle/>
          <a:p>
            <a:pPr marL="285750" indent="-285750" algn="just">
              <a:buFont typeface="Arial" panose="020B0604020202020204" pitchFamily="34" charset="0"/>
              <a:buChar char="•"/>
            </a:pPr>
            <a:r>
              <a:rPr lang="en-US" sz="1350" b="1" dirty="0">
                <a:latin typeface="Arial" pitchFamily="34" charset="0"/>
                <a:cs typeface="Arial" pitchFamily="34" charset="0"/>
              </a:rPr>
              <a:t>Potential impact on the target audience</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CAQM and DPCC act through GRAP, and GRAP takes days to bite. Stage III at 73.8% recall and 66.0% precision with 72 h of lead turns a forecast into an actionable warning.</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30 M+ NCR residents get a neighbourhood answer, not a city average: a 0.05° surface, 81.8 µg/m³ leave-one-station-out, 24.6% better than inverse-distance interpolation.</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Every number ships with its interval and a visible "last synced" age, so an operator can see when the system is unsure or stale — the failure mode that ends operational trust in a forecast.</a:t>
            </a:r>
          </a:p>
          <a:p>
            <a:pPr marL="285750" indent="-285750" algn="just">
              <a:buFont typeface="Arial" panose="020B0604020202020204" pitchFamily="34" charset="0"/>
              <a:buChar char="•"/>
            </a:pPr>
            <a:r>
              <a:rPr lang="en-US" sz="1350" b="1" dirty="0">
                <a:latin typeface="Arial" pitchFamily="34" charset="0"/>
                <a:cs typeface="Arial" pitchFamily="34" charset="0"/>
              </a:rPr>
              <a:t>Benefits of the solution (social, economic, environmental, etc.)</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Social — earlier school closures, construction halts and health advisories, with the interval shown everywhere so a marginal call looks marginal instead of certain.</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Economic — fog risk three days out for IGI diversions and highway pile-ups: visibility skill improves 7.5% from pollution inputs (we report the number; the mechanism is not yet established).</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Environmental — the surface says which part of the city is worse, and every cell carries its distance to the nearest monitor, so an unmonitored block is marked uncertain rather than quietly guessed.</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Institutional — the correction layer is model-agnostic. It applies to the ministry's own SAFAR / Delhi DSS output as easily as to CAMS, so it adds to existing investment rather than competing with it, and it costs nothing to run.</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AS_chdr"/>
          <p:cNvSpPr/>
          <p:nvPr/>
        </p:nvSpPr>
        <p:spPr>
          <a:xfrm>
            <a:off x="7406640" y="1280160"/>
            <a:ext cx="4434840" cy="365760"/>
          </a:xfrm>
          <a:prstGeom prst="roundRect">
            <a:avLst>
              <a:gd name="adj" fmla="val 16000"/>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100" b="1">
                <a:solidFill>
                  <a:srgbClr val="FFFFFF"/>
                </a:solidFill>
                <a:latin typeface="Arial"/>
              </a:rPr>
              <a:t>72 h forecast error, 5 rolling folds</a:t>
            </a:r>
          </a:p>
        </p:txBody>
      </p:sp>
      <p:sp>
        <p:nvSpPr>
          <p:cNvPr id="17412" name="AS_csub"/>
          <p:cNvSpPr txBox="1"/>
          <p:nvPr/>
        </p:nvSpPr>
        <p:spPr>
          <a:xfrm>
            <a:off x="7406640" y="1700784"/>
            <a:ext cx="4434840" cy="201168"/>
          </a:xfrm>
          <a:prstGeom prst="rect">
            <a:avLst/>
          </a:prstGeom>
          <a:noFill/>
        </p:spPr>
        <p:txBody>
          <a:bodyPr wrap="square" anchor="ctr" lIns="36576" rIns="36576" tIns="0" bIns="0">
            <a:spAutoFit/>
          </a:bodyPr>
          <a:lstStyle/>
          <a:p>
            <a:pPr algn="ctr"/>
            <a:r>
              <a:rPr sz="900" b="0">
                <a:solidFill>
                  <a:srgbClr val="5A6B7D"/>
                </a:solidFill>
                <a:latin typeface="Arial"/>
              </a:rPr>
              <a:t>RMSE in µg/m³ — lower is better</a:t>
            </a:r>
          </a:p>
        </p:txBody>
      </p:sp>
      <p:sp>
        <p:nvSpPr>
          <p:cNvPr id="17413" name="AS_blab0"/>
          <p:cNvSpPr txBox="1"/>
          <p:nvPr/>
        </p:nvSpPr>
        <p:spPr>
          <a:xfrm>
            <a:off x="7424927" y="2011680"/>
            <a:ext cx="1097280" cy="420624"/>
          </a:xfrm>
          <a:prstGeom prst="rect">
            <a:avLst/>
          </a:prstGeom>
          <a:noFill/>
        </p:spPr>
        <p:txBody>
          <a:bodyPr wrap="square" anchor="ctr" lIns="36576" rIns="36576" tIns="0" bIns="0">
            <a:spAutoFit/>
          </a:bodyPr>
          <a:lstStyle/>
          <a:p>
            <a:pPr algn="r"/>
            <a:r>
              <a:rPr sz="1000" b="0">
                <a:solidFill>
                  <a:srgbClr val="5A6B7D"/>
                </a:solidFill>
                <a:latin typeface="Arial"/>
              </a:rPr>
              <a:t>Raw CAMS</a:t>
            </a:r>
          </a:p>
        </p:txBody>
      </p:sp>
      <p:sp>
        <p:nvSpPr>
          <p:cNvPr id="17414" name="AS_bar0"/>
          <p:cNvSpPr/>
          <p:nvPr/>
        </p:nvSpPr>
        <p:spPr>
          <a:xfrm>
            <a:off x="8577072" y="2066544"/>
            <a:ext cx="2487168" cy="310896"/>
          </a:xfrm>
          <a:prstGeom prst="roundRect">
            <a:avLst>
              <a:gd name="adj" fmla="val 30000"/>
            </a:avLst>
          </a:prstGeom>
          <a:solidFill>
            <a:srgbClr val="B0BE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5" name="AS_bval0"/>
          <p:cNvSpPr txBox="1"/>
          <p:nvPr/>
        </p:nvSpPr>
        <p:spPr>
          <a:xfrm>
            <a:off x="11119104" y="2011680"/>
            <a:ext cx="685800" cy="420624"/>
          </a:xfrm>
          <a:prstGeom prst="rect">
            <a:avLst/>
          </a:prstGeom>
          <a:noFill/>
        </p:spPr>
        <p:txBody>
          <a:bodyPr wrap="square" anchor="ctr" lIns="36576" rIns="36576" tIns="0" bIns="0">
            <a:spAutoFit/>
          </a:bodyPr>
          <a:lstStyle/>
          <a:p>
            <a:pPr algn="l"/>
            <a:r>
              <a:rPr sz="1000" b="0">
                <a:solidFill>
                  <a:srgbClr val="1F3A5F"/>
                </a:solidFill>
                <a:latin typeface="Arial"/>
              </a:rPr>
              <a:t>91.4</a:t>
            </a:r>
          </a:p>
        </p:txBody>
      </p:sp>
      <p:sp>
        <p:nvSpPr>
          <p:cNvPr id="17416" name="AS_blab1"/>
          <p:cNvSpPr txBox="1"/>
          <p:nvPr/>
        </p:nvSpPr>
        <p:spPr>
          <a:xfrm>
            <a:off x="7424927" y="2670048"/>
            <a:ext cx="1097280" cy="420624"/>
          </a:xfrm>
          <a:prstGeom prst="rect">
            <a:avLst/>
          </a:prstGeom>
          <a:noFill/>
        </p:spPr>
        <p:txBody>
          <a:bodyPr wrap="square" anchor="ctr" lIns="36576" rIns="36576" tIns="0" bIns="0">
            <a:spAutoFit/>
          </a:bodyPr>
          <a:lstStyle/>
          <a:p>
            <a:pPr algn="r"/>
            <a:r>
              <a:rPr sz="1000" b="0">
                <a:solidFill>
                  <a:srgbClr val="5A6B7D"/>
                </a:solidFill>
                <a:latin typeface="Arial"/>
              </a:rPr>
              <a:t>Persistence</a:t>
            </a:r>
          </a:p>
        </p:txBody>
      </p:sp>
      <p:sp>
        <p:nvSpPr>
          <p:cNvPr id="17417" name="AS_bar1"/>
          <p:cNvSpPr/>
          <p:nvPr/>
        </p:nvSpPr>
        <p:spPr>
          <a:xfrm>
            <a:off x="8577072" y="2724912"/>
            <a:ext cx="2117086" cy="310896"/>
          </a:xfrm>
          <a:prstGeom prst="roundRect">
            <a:avLst>
              <a:gd name="adj" fmla="val 30000"/>
            </a:avLst>
          </a:prstGeom>
          <a:solidFill>
            <a:srgbClr val="B2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8" name="AS_bval1"/>
          <p:cNvSpPr txBox="1"/>
          <p:nvPr/>
        </p:nvSpPr>
        <p:spPr>
          <a:xfrm>
            <a:off x="10749022" y="2670048"/>
            <a:ext cx="685800" cy="420624"/>
          </a:xfrm>
          <a:prstGeom prst="rect">
            <a:avLst/>
          </a:prstGeom>
          <a:noFill/>
        </p:spPr>
        <p:txBody>
          <a:bodyPr wrap="square" anchor="ctr" lIns="36576" rIns="36576" tIns="0" bIns="0">
            <a:spAutoFit/>
          </a:bodyPr>
          <a:lstStyle/>
          <a:p>
            <a:pPr algn="l"/>
            <a:r>
              <a:rPr sz="1000" b="0">
                <a:solidFill>
                  <a:srgbClr val="1F3A5F"/>
                </a:solidFill>
                <a:latin typeface="Arial"/>
              </a:rPr>
              <a:t>77.8</a:t>
            </a:r>
          </a:p>
        </p:txBody>
      </p:sp>
      <p:sp>
        <p:nvSpPr>
          <p:cNvPr id="17419" name="AS_blab2"/>
          <p:cNvSpPr txBox="1"/>
          <p:nvPr/>
        </p:nvSpPr>
        <p:spPr>
          <a:xfrm>
            <a:off x="7424927" y="3328416"/>
            <a:ext cx="1097280" cy="420624"/>
          </a:xfrm>
          <a:prstGeom prst="rect">
            <a:avLst/>
          </a:prstGeom>
          <a:noFill/>
        </p:spPr>
        <p:txBody>
          <a:bodyPr wrap="square" anchor="ctr" lIns="36576" rIns="36576" tIns="0" bIns="0">
            <a:spAutoFit/>
          </a:bodyPr>
          <a:lstStyle/>
          <a:p>
            <a:pPr algn="r"/>
            <a:r>
              <a:rPr sz="1000" b="1">
                <a:solidFill>
                  <a:srgbClr val="1F3A5F"/>
                </a:solidFill>
                <a:latin typeface="Arial"/>
              </a:rPr>
              <a:t>Airshed</a:t>
            </a:r>
          </a:p>
        </p:txBody>
      </p:sp>
      <p:sp>
        <p:nvSpPr>
          <p:cNvPr id="17420" name="AS_bar2"/>
          <p:cNvSpPr/>
          <p:nvPr/>
        </p:nvSpPr>
        <p:spPr>
          <a:xfrm>
            <a:off x="8577072" y="3383280"/>
            <a:ext cx="1684416" cy="310896"/>
          </a:xfrm>
          <a:prstGeom prst="roundRect">
            <a:avLst>
              <a:gd name="adj" fmla="val 30000"/>
            </a:avLst>
          </a:prstGeom>
          <a:solidFill>
            <a:srgbClr val="2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1" name="AS_bval2"/>
          <p:cNvSpPr txBox="1"/>
          <p:nvPr/>
        </p:nvSpPr>
        <p:spPr>
          <a:xfrm>
            <a:off x="10316352" y="3328416"/>
            <a:ext cx="685800" cy="420624"/>
          </a:xfrm>
          <a:prstGeom prst="rect">
            <a:avLst/>
          </a:prstGeom>
          <a:noFill/>
        </p:spPr>
        <p:txBody>
          <a:bodyPr wrap="square" anchor="ctr" lIns="36576" rIns="36576" tIns="0" bIns="0">
            <a:spAutoFit/>
          </a:bodyPr>
          <a:lstStyle/>
          <a:p>
            <a:pPr algn="l"/>
            <a:r>
              <a:rPr sz="1000" b="1">
                <a:solidFill>
                  <a:srgbClr val="1F3A5F"/>
                </a:solidFill>
                <a:latin typeface="Arial"/>
              </a:rPr>
              <a:t>61.9</a:t>
            </a:r>
          </a:p>
        </p:txBody>
      </p:sp>
      <p:sp>
        <p:nvSpPr>
          <p:cNvPr id="17422" name="AS_gain"/>
          <p:cNvSpPr/>
          <p:nvPr/>
        </p:nvSpPr>
        <p:spPr>
          <a:xfrm>
            <a:off x="7406640" y="4041648"/>
            <a:ext cx="4434840" cy="475488"/>
          </a:xfrm>
          <a:prstGeom prst="roundRect">
            <a:avLst>
              <a:gd name="adj" fmla="val 14000"/>
            </a:avLst>
          </a:prstGeom>
          <a:solidFill>
            <a:srgbClr val="E3F1EC"/>
          </a:solidFill>
          <a:ln w="12700">
            <a:solidFill>
              <a:srgbClr val="1E7A6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100" b="1">
                <a:solidFill>
                  <a:srgbClr val="1E7A66"/>
                </a:solidFill>
                <a:latin typeface="Arial"/>
              </a:rPr>
              <a:t>−31.5% vs raw CAMS   ·   −20.6% vs persistence</a:t>
            </a:r>
          </a:p>
          <a:p>
            <a:pPr algn="ctr">
              <a:lnSpc>
                <a:spcPct val="95000"/>
              </a:lnSpc>
            </a:pPr>
            <a:r>
              <a:rPr sz="850" b="0">
                <a:solidFill>
                  <a:srgbClr val="1E7A66"/>
                </a:solidFill>
                <a:latin typeface="Arial"/>
              </a:rPr>
              <a:t>better on 5 of 5 seasonal folds</a:t>
            </a:r>
          </a:p>
        </p:txBody>
      </p:sp>
      <p:sp>
        <p:nvSpPr>
          <p:cNvPr id="17423" name="AS_grap"/>
          <p:cNvSpPr/>
          <p:nvPr/>
        </p:nvSpPr>
        <p:spPr>
          <a:xfrm>
            <a:off x="7406640" y="4626864"/>
            <a:ext cx="4434840" cy="475488"/>
          </a:xfrm>
          <a:prstGeom prst="roundRect">
            <a:avLst>
              <a:gd name="adj" fmla="val 14000"/>
            </a:avLst>
          </a:prstGeom>
          <a:solidFill>
            <a:srgbClr val="FDF1DF"/>
          </a:solidFill>
          <a:ln w="12700">
            <a:solidFill>
              <a:srgbClr val="B26A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100" b="1">
                <a:solidFill>
                  <a:srgbClr val="B26A00"/>
                </a:solidFill>
                <a:latin typeface="Arial"/>
              </a:rPr>
              <a:t>GRAP Stage III: 73.8% recall at 72 h lead</a:t>
            </a:r>
          </a:p>
          <a:p>
            <a:pPr algn="ctr">
              <a:lnSpc>
                <a:spcPct val="95000"/>
              </a:lnSpc>
            </a:pPr>
            <a:r>
              <a:rPr sz="850" b="0">
                <a:solidFill>
                  <a:srgbClr val="B26A00"/>
                </a:solidFill>
                <a:latin typeface="Arial"/>
              </a:rPr>
              <a:t>per-class recall, never overall accuracy — Stage IV is rare</a:t>
            </a:r>
          </a:p>
        </p:txBody>
      </p:sp>
      <p:sp>
        <p:nvSpPr>
          <p:cNvPr id="17424" name="AS_cov"/>
          <p:cNvSpPr/>
          <p:nvPr/>
        </p:nvSpPr>
        <p:spPr>
          <a:xfrm>
            <a:off x="7406640" y="5212080"/>
            <a:ext cx="2162556" cy="566928"/>
          </a:xfrm>
          <a:prstGeom prst="roundRect">
            <a:avLst>
              <a:gd name="adj" fmla="val 12000"/>
            </a:avLst>
          </a:prstGeom>
          <a:solidFill>
            <a:srgbClr val="EEF3F9"/>
          </a:solidFill>
          <a:ln w="12700">
            <a:solidFill>
              <a:srgbClr val="A9BC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50" b="1">
                <a:solidFill>
                  <a:srgbClr val="1F3A5F"/>
                </a:solidFill>
                <a:latin typeface="Arial"/>
              </a:rPr>
              <a:t>85.1% interval coverage</a:t>
            </a:r>
          </a:p>
          <a:p>
            <a:pPr algn="ctr">
              <a:lnSpc>
                <a:spcPct val="95000"/>
              </a:lnSpc>
            </a:pPr>
            <a:r>
              <a:rPr sz="800" b="0">
                <a:solidFill>
                  <a:srgbClr val="5A6B7D"/>
                </a:solidFill>
                <a:latin typeface="Arial"/>
              </a:rPr>
              <a:t>against an 80% target</a:t>
            </a:r>
          </a:p>
        </p:txBody>
      </p:sp>
      <p:sp>
        <p:nvSpPr>
          <p:cNvPr id="17425" name="AS_loso"/>
          <p:cNvSpPr/>
          <p:nvPr/>
        </p:nvSpPr>
        <p:spPr>
          <a:xfrm>
            <a:off x="9678924" y="5212080"/>
            <a:ext cx="2162556" cy="566928"/>
          </a:xfrm>
          <a:prstGeom prst="roundRect">
            <a:avLst>
              <a:gd name="adj" fmla="val 12000"/>
            </a:avLst>
          </a:prstGeom>
          <a:solidFill>
            <a:srgbClr val="EEF3F9"/>
          </a:solidFill>
          <a:ln w="12700">
            <a:solidFill>
              <a:srgbClr val="A9BC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50" b="1">
                <a:solidFill>
                  <a:srgbClr val="1F3A5F"/>
                </a:solidFill>
                <a:latin typeface="Arial"/>
              </a:rPr>
              <a:t>81.8 µg/m³ held-out, spatial</a:t>
            </a:r>
          </a:p>
          <a:p>
            <a:pPr algn="ctr">
              <a:lnSpc>
                <a:spcPct val="95000"/>
              </a:lnSpc>
            </a:pPr>
            <a:r>
              <a:rPr sz="800" b="0">
                <a:solidFill>
                  <a:srgbClr val="5A6B7D"/>
                </a:solidFill>
                <a:latin typeface="Arial"/>
              </a:rPr>
              <a:t>leave-one-station-out, 24.6% better than IDW</a:t>
            </a:r>
          </a:p>
        </p:txBody>
      </p:sp>
      <p:sp>
        <p:nvSpPr>
          <p:cNvPr id="17426" name="AS_note"/>
          <p:cNvSpPr txBox="1"/>
          <p:nvPr/>
        </p:nvSpPr>
        <p:spPr>
          <a:xfrm>
            <a:off x="7406640" y="5888736"/>
            <a:ext cx="4434840" cy="566928"/>
          </a:xfrm>
          <a:prstGeom prst="rect">
            <a:avLst/>
          </a:prstGeom>
          <a:noFill/>
        </p:spPr>
        <p:txBody>
          <a:bodyPr wrap="square" anchor="t" lIns="36576" rIns="36576" tIns="0" bIns="0">
            <a:spAutoFit/>
          </a:bodyPr>
          <a:lstStyle/>
          <a:p>
            <a:pPr algn="ctr"/>
            <a:r>
              <a:rPr sz="850" b="0">
                <a:solidFill>
                  <a:srgbClr val="5A6B7D"/>
                </a:solidFill>
                <a:latin typeface="Arial"/>
              </a:rPr>
              <a:t>Gain vs raw CAMS by fold: +12.4 / +33.7 / +18.7 / +35.2 / +57.5%</a:t>
            </a:r>
          </a:p>
          <a:p>
            <a:pPr algn="ctr"/>
            <a:r>
              <a:rPr sz="850" b="0">
                <a:solidFill>
                  <a:srgbClr val="5A6B7D"/>
                </a:solidFill>
                <a:latin typeface="Arial"/>
              </a:rPr>
              <a:t>Held-out episode, 22 Dec 2025 — observed 259 µg/m³, raw CAMS off by 123, Airshed off by 91.</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17410" name="TextBox 8"/>
          <p:cNvSpPr txBox="1">
            <a:spLocks noChangeArrowheads="1"/>
          </p:cNvSpPr>
          <p:nvPr/>
        </p:nvSpPr>
        <p:spPr bwMode="auto">
          <a:xfrm>
            <a:off x="457200" y="1207008"/>
            <a:ext cx="7178040" cy="4754880"/>
          </a:xfrm>
          <a:prstGeom prst="rect">
            <a:avLst/>
          </a:prstGeom>
          <a:noFill/>
          <a:ln w="9525">
            <a:noFill/>
            <a:miter lim="800000"/>
            <a:headEnd/>
            <a:tailEnd/>
          </a:ln>
        </p:spPr>
        <p:txBody>
          <a:bodyPr wrap="square">
            <a:spAutoFit/>
          </a:bodyPr>
          <a:lstStyle/>
          <a:p>
            <a:pPr marL="285750" indent="-285750" algn="just">
              <a:buFont typeface="Arial" panose="020B0604020202020204" pitchFamily="34" charset="0"/>
              <a:buChar char="•"/>
            </a:pPr>
            <a:r>
              <a:rPr lang="en-US" sz="1350" b="1" dirty="0">
                <a:latin typeface="Arial" pitchFamily="34" charset="0"/>
                <a:cs typeface="Arial" pitchFamily="34" charset="0"/>
              </a:rPr>
              <a:t>Details / Links of the reference and research work</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CAMS global forecast (Copernicus Atmosphere Monitoring Service), read free and keyless through the Open-Meteo Air Quality API — air-quality-api.open-meteo.com.</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Open-Meteo Historical Forecast and Previous Runs APIs for archived past forecast runs — the training meteorology, at the lead it is actually used at. ERA5 reanalysis is deliberately excluded: it lags real time by ~5 days and cannot be served.</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CPCB CAAQMS ground truth via the OpenAQ v3 API (api.openaq.org); NASA FIRMS VIIRS/MODIS active fire detections for stubble burning (firms.modaps.eosdis.nasa.gov); Iowa State IEM ASOS archive for measured METAR visibility at VIDP (mesonet.agron.iastate.edu).</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GRAP stage thresholds transcribed from the CAQM published schedule; CPCB National AQI breakpoints for the 24-hour mean.</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Prior art we position against, not around: SAFAR (IITM / MoES) and the Delhi Decision Support System already run the physics for NCR. Correcting an operational forecast is standard practice in operational meteorology; applying it to CAMS over NCR, and outputting the GRAP decision, is ours.</a:t>
            </a:r>
          </a:p>
          <a:p>
            <a:pPr marL="514350" indent="-228600" algn="just">
              <a:lnSpc>
                <a:spcPct val="97000"/>
              </a:lnSpc>
              <a:spcBef>
                <a:spcPts val="300"/>
              </a:spcBef>
              <a:buFont typeface="Arial" panose="020B0604020202020204" pitchFamily="34" charset="0"/>
              <a:buChar char="–"/>
            </a:pPr>
            <a:r>
              <a:rPr lang="en-US" sz="1150" dirty="0">
                <a:latin typeface="Arial" pitchFamily="34" charset="0"/>
                <a:cs typeface="Arial" pitchFamily="34" charset="0"/>
              </a:rPr>
              <a:t>Method and every number on these slides: docs/results/ in the project repo — ablation.md, rolling.md, grap.md, loso.md, coupling.md, leadmatch.md, each regenerable by one command.</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1" name="AS_ehdr"/>
          <p:cNvSpPr/>
          <p:nvPr/>
        </p:nvSpPr>
        <p:spPr>
          <a:xfrm>
            <a:off x="7882127" y="1298448"/>
            <a:ext cx="3931920" cy="365760"/>
          </a:xfrm>
          <a:prstGeom prst="roundRect">
            <a:avLst>
              <a:gd name="adj" fmla="val 16000"/>
            </a:avLst>
          </a:prstGeom>
          <a:solidFill>
            <a:srgbClr val="1F3A5F"/>
          </a:solidFill>
          <a:ln w="1270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100" b="1">
                <a:solidFill>
                  <a:srgbClr val="FFFFFF"/>
                </a:solidFill>
                <a:latin typeface="Arial"/>
              </a:rPr>
              <a:t>EVIDENCE ON DISK</a:t>
            </a:r>
          </a:p>
        </p:txBody>
      </p:sp>
      <p:sp>
        <p:nvSpPr>
          <p:cNvPr id="17412" name="AS_row0"/>
          <p:cNvSpPr/>
          <p:nvPr/>
        </p:nvSpPr>
        <p:spPr>
          <a:xfrm>
            <a:off x="7882127" y="1773936"/>
            <a:ext cx="3931920" cy="329184"/>
          </a:xfrm>
          <a:prstGeom prst="roundRect">
            <a:avLst>
              <a:gd name="adj" fmla="val 16000"/>
            </a:avLst>
          </a:prstGeom>
          <a:solidFill>
            <a:srgbClr val="EEF3F9"/>
          </a:solidFill>
          <a:ln w="12700">
            <a:solidFill>
              <a:srgbClr val="A9BC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00" b="0">
                <a:solidFill>
                  <a:srgbClr val="1F3A5F"/>
                </a:solidFill>
                <a:latin typeface="Arial"/>
              </a:rPr>
              <a:t>CPCB ground truth   ·   2,552 d · 1.54 M rows</a:t>
            </a:r>
          </a:p>
        </p:txBody>
      </p:sp>
      <p:sp>
        <p:nvSpPr>
          <p:cNvPr id="17413" name="AS_row1"/>
          <p:cNvSpPr/>
          <p:nvPr/>
        </p:nvSpPr>
        <p:spPr>
          <a:xfrm>
            <a:off x="7882127" y="2157984"/>
            <a:ext cx="3931920" cy="329184"/>
          </a:xfrm>
          <a:prstGeom prst="roundRect">
            <a:avLst>
              <a:gd name="adj" fmla="val 16000"/>
            </a:avLst>
          </a:prstGeom>
          <a:solidFill>
            <a:srgbClr val="EEF3F9"/>
          </a:solidFill>
          <a:ln w="12700">
            <a:solidFill>
              <a:srgbClr val="A9BC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00" b="0">
                <a:solidFill>
                  <a:srgbClr val="1F3A5F"/>
                </a:solidFill>
                <a:latin typeface="Arial"/>
              </a:rPr>
              <a:t>CAMS archive   ·   740 d · 1.37 M rows</a:t>
            </a:r>
          </a:p>
        </p:txBody>
      </p:sp>
      <p:sp>
        <p:nvSpPr>
          <p:cNvPr id="17414" name="AS_row2"/>
          <p:cNvSpPr/>
          <p:nvPr/>
        </p:nvSpPr>
        <p:spPr>
          <a:xfrm>
            <a:off x="7882127" y="2542032"/>
            <a:ext cx="3931920" cy="329184"/>
          </a:xfrm>
          <a:prstGeom prst="roundRect">
            <a:avLst>
              <a:gd name="adj" fmla="val 16000"/>
            </a:avLst>
          </a:prstGeom>
          <a:solidFill>
            <a:srgbClr val="EEF3F9"/>
          </a:solidFill>
          <a:ln w="12700">
            <a:solidFill>
              <a:srgbClr val="A9BC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00" b="0">
                <a:solidFill>
                  <a:srgbClr val="1F3A5F"/>
                </a:solidFill>
                <a:latin typeface="Arial"/>
              </a:rPr>
              <a:t>GFS meteorology archive   ·   710 d · 1.21 M rows</a:t>
            </a:r>
          </a:p>
        </p:txBody>
      </p:sp>
      <p:sp>
        <p:nvSpPr>
          <p:cNvPr id="17415" name="AS_row3"/>
          <p:cNvSpPr/>
          <p:nvPr/>
        </p:nvSpPr>
        <p:spPr>
          <a:xfrm>
            <a:off x="7882127" y="2926080"/>
            <a:ext cx="3931920" cy="329184"/>
          </a:xfrm>
          <a:prstGeom prst="roundRect">
            <a:avLst>
              <a:gd name="adj" fmla="val 16000"/>
            </a:avLst>
          </a:prstGeom>
          <a:solidFill>
            <a:srgbClr val="EEF3F9"/>
          </a:solidFill>
          <a:ln w="12700">
            <a:solidFill>
              <a:srgbClr val="A9BC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00" b="0">
                <a:solidFill>
                  <a:srgbClr val="1F3A5F"/>
                </a:solidFill>
                <a:latin typeface="Arial"/>
              </a:rPr>
              <a:t>Meteorology, lead-matched   ·   553 d · 2.70 M rows</a:t>
            </a:r>
          </a:p>
        </p:txBody>
      </p:sp>
      <p:sp>
        <p:nvSpPr>
          <p:cNvPr id="17416" name="AS_row4"/>
          <p:cNvSpPr/>
          <p:nvPr/>
        </p:nvSpPr>
        <p:spPr>
          <a:xfrm>
            <a:off x="7882127" y="3310128"/>
            <a:ext cx="3931920" cy="329184"/>
          </a:xfrm>
          <a:prstGeom prst="roundRect">
            <a:avLst>
              <a:gd name="adj" fmla="val 16000"/>
            </a:avLst>
          </a:prstGeom>
          <a:solidFill>
            <a:srgbClr val="EEF3F9"/>
          </a:solidFill>
          <a:ln w="12700">
            <a:solidFill>
              <a:srgbClr val="A9BC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00" b="0">
                <a:solidFill>
                  <a:srgbClr val="1F3A5F"/>
                </a:solidFill>
                <a:latin typeface="Arial"/>
              </a:rPr>
              <a:t>METAR visibility, VIDP   ·   740 d · 18.9 k obs</a:t>
            </a:r>
          </a:p>
        </p:txBody>
      </p:sp>
      <p:sp>
        <p:nvSpPr>
          <p:cNvPr id="17417" name="AS_row5"/>
          <p:cNvSpPr/>
          <p:nvPr/>
        </p:nvSpPr>
        <p:spPr>
          <a:xfrm>
            <a:off x="7882127" y="3694176"/>
            <a:ext cx="3931920" cy="329184"/>
          </a:xfrm>
          <a:prstGeom prst="roundRect">
            <a:avLst>
              <a:gd name="adj" fmla="val 16000"/>
            </a:avLst>
          </a:prstGeom>
          <a:solidFill>
            <a:srgbClr val="EEF3F9"/>
          </a:solidFill>
          <a:ln w="12700">
            <a:solidFill>
              <a:srgbClr val="A9BCD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900" b="0">
                <a:solidFill>
                  <a:srgbClr val="1F3A5F"/>
                </a:solidFill>
                <a:latin typeface="Arial"/>
              </a:rPr>
              <a:t>FIRMS fire detections   ·   274 d · 23.5 k rows</a:t>
            </a:r>
          </a:p>
        </p:txBody>
      </p:sp>
      <p:sp>
        <p:nvSpPr>
          <p:cNvPr id="17418" name="AS_gate"/>
          <p:cNvSpPr/>
          <p:nvPr/>
        </p:nvSpPr>
        <p:spPr>
          <a:xfrm>
            <a:off x="7882127" y="4133087"/>
            <a:ext cx="3931920" cy="749808"/>
          </a:xfrm>
          <a:prstGeom prst="roundRect">
            <a:avLst>
              <a:gd name="adj" fmla="val 10000"/>
            </a:avLst>
          </a:prstGeom>
          <a:solidFill>
            <a:srgbClr val="E3F1EC"/>
          </a:solidFill>
          <a:ln w="12700">
            <a:solidFill>
              <a:srgbClr val="1E7A6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000" b="1">
                <a:solidFill>
                  <a:srgbClr val="1E7A66"/>
                </a:solidFill>
                <a:latin typeface="Arial"/>
              </a:rPr>
              <a:t>Verified, not asserted</a:t>
            </a:r>
          </a:p>
          <a:p>
            <a:pPr algn="ctr">
              <a:lnSpc>
                <a:spcPct val="95000"/>
              </a:lnSpc>
            </a:pPr>
            <a:r>
              <a:rPr sz="850" b="0">
                <a:solidFill>
                  <a:srgbClr val="1E7A66"/>
                </a:solidFill>
                <a:latin typeface="Arial"/>
              </a:rPr>
              <a:t>airshed gate rebuilds a week of every feature with sockets physically blocked, so "reads from cache" is a test, not a claim.</a:t>
            </a:r>
          </a:p>
        </p:txBody>
      </p:sp>
      <p:sp>
        <p:nvSpPr>
          <p:cNvPr id="17419" name="AS_next"/>
          <p:cNvSpPr/>
          <p:nvPr/>
        </p:nvSpPr>
        <p:spPr>
          <a:xfrm>
            <a:off x="7882127" y="4974336"/>
            <a:ext cx="3931920" cy="749808"/>
          </a:xfrm>
          <a:prstGeom prst="roundRect">
            <a:avLst>
              <a:gd name="adj" fmla="val 10000"/>
            </a:avLst>
          </a:prstGeom>
          <a:solidFill>
            <a:srgbClr val="FDF1DF"/>
          </a:solidFill>
          <a:ln w="12700">
            <a:solidFill>
              <a:srgbClr val="B26A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1000" b="1">
                <a:solidFill>
                  <a:srgbClr val="B26A00"/>
                </a:solidFill>
                <a:latin typeface="Arial"/>
              </a:rPr>
              <a:t>Next, and already scheduled</a:t>
            </a:r>
          </a:p>
          <a:p>
            <a:pPr algn="ctr">
              <a:lnSpc>
                <a:spcPct val="95000"/>
              </a:lnSpc>
            </a:pPr>
            <a:r>
              <a:rPr sz="850" b="0">
                <a:solidFill>
                  <a:srgbClr val="B26A00"/>
                </a:solidFill>
                <a:latin typeface="Arial"/>
              </a:rPr>
              <a:t>November 2026 — a second episode season settles fires, the upwind corridor, coupling and Stage IV in one run.</a:t>
            </a:r>
          </a:p>
        </p:txBody>
      </p:sp>
    </p:spTree>
    <p:extLst>
      <p:ext uri="{BB962C8B-B14F-4D97-AF65-F5344CB8AC3E}">
        <p14:creationId xmlns:p14="http://schemas.microsoft.com/office/powerpoint/2010/main" val="3916788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3" name="Round Diagonal Corner Rectangle 2"/>
          <p:cNvSpPr/>
          <p:nvPr/>
        </p:nvSpPr>
        <p:spPr>
          <a:xfrm>
            <a:off x="0" y="1791032"/>
            <a:ext cx="12192000" cy="4319200"/>
          </a:xfrm>
          <a:prstGeom prst="round2DiagRect">
            <a:avLst/>
          </a:prstGeom>
          <a:solidFill>
            <a:schemeClr val="accent1">
              <a:lumMod val="20000"/>
              <a:lumOff val="80000"/>
            </a:schemeClr>
          </a:solidFill>
          <a:ln w="3810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2" name="Google Shape;100;p3"/>
          <p:cNvSpPr txBox="1"/>
          <p:nvPr/>
        </p:nvSpPr>
        <p:spPr>
          <a:xfrm>
            <a:off x="367832" y="1915454"/>
            <a:ext cx="11764736" cy="4070356"/>
          </a:xfrm>
          <a:prstGeom prst="rect">
            <a:avLst/>
          </a:prstGeom>
          <a:noFill/>
          <a:ln>
            <a:noFill/>
          </a:ln>
        </p:spPr>
        <p:txBody>
          <a:bodyPr spcFirstLastPara="1" wrap="square" lIns="91425" tIns="45700" rIns="91425" bIns="45700" anchor="t" anchorCtr="0">
            <a:noAutofit/>
          </a:bodyPr>
          <a:lstStyle/>
          <a:p>
            <a:pPr marL="514350" marR="0" lvl="0" indent="-514350" algn="just" rtl="0">
              <a:lnSpc>
                <a:spcPct val="90000"/>
              </a:lnSpc>
              <a:spcBef>
                <a:spcPts val="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Kindly keep the maximum slides limit up to six </a:t>
            </a: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(6). </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Including the </a:t>
            </a:r>
            <a:r>
              <a:rPr lang="en-US" b="1" i="0" u="none" strike="noStrike" cap="none">
                <a:solidFill>
                  <a:schemeClr val="dk1"/>
                </a:solidFill>
                <a:latin typeface="Arial" panose="020B0604020202020204" pitchFamily="34" charset="0"/>
                <a:ea typeface="Calibri"/>
                <a:cs typeface="Arial" panose="020B0604020202020204" pitchFamily="34" charset="0"/>
                <a:sym typeface="Calibri"/>
              </a:rPr>
              <a:t>title slide)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Try to avoid paragraphs and post your idea in points /diagrams / Infographics /pictures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Keep your explanation precise and easy to understand</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Idea should be unique and novel.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can only use provided </a:t>
            </a:r>
            <a:r>
              <a:rPr lang="en-US" b="1" dirty="0">
                <a:solidFill>
                  <a:schemeClr val="dk1"/>
                </a:solidFill>
                <a:latin typeface="Arial" panose="020B0604020202020204" pitchFamily="34" charset="0"/>
                <a:ea typeface="Calibri"/>
                <a:cs typeface="Arial" panose="020B0604020202020204" pitchFamily="34" charset="0"/>
                <a:sym typeface="Calibri"/>
              </a:rPr>
              <a:t>template</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for making the </a:t>
            </a:r>
            <a:r>
              <a:rPr lang="en-US" b="1" dirty="0">
                <a:solidFill>
                  <a:schemeClr val="dk1"/>
                </a:solidFill>
                <a:latin typeface="Arial" panose="020B0604020202020204" pitchFamily="34" charset="0"/>
                <a:ea typeface="Calibri"/>
                <a:cs typeface="Arial" panose="020B0604020202020204" pitchFamily="34" charset="0"/>
                <a:sym typeface="Calibri"/>
              </a:rPr>
              <a:t>PPT</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without changing the idea details pointers (mentioned in previous slides).</a:t>
            </a: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need to save the file in PDF and upload the same on portal. No PPT, Word Doc or any other format will be supported.</a:t>
            </a:r>
            <a:endParaRPr b="1" dirty="0">
              <a:latin typeface="Arial" panose="020B0604020202020204" pitchFamily="34" charset="0"/>
              <a:cs typeface="Arial" panose="020B0604020202020204" pitchFamily="34" charset="0"/>
            </a:endParaRPr>
          </a:p>
          <a:p>
            <a:pPr marL="514350" marR="0" lvl="0" indent="-349885" algn="just" rtl="0">
              <a:lnSpc>
                <a:spcPct val="90000"/>
              </a:lnSpc>
              <a:spcBef>
                <a:spcPts val="1000"/>
              </a:spcBef>
              <a:spcAft>
                <a:spcPts val="0"/>
              </a:spcAft>
              <a:buClr>
                <a:schemeClr val="dk1"/>
              </a:buClr>
              <a:buSzPct val="100000"/>
              <a:buFont typeface="Calibri"/>
              <a:buNone/>
            </a:pP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0" marR="0" lvl="0" indent="0" algn="just" rtl="0">
              <a:lnSpc>
                <a:spcPct val="90000"/>
              </a:lnSpc>
              <a:spcBef>
                <a:spcPts val="1000"/>
              </a:spcBef>
              <a:spcAft>
                <a:spcPts val="0"/>
              </a:spcAft>
              <a:buClr>
                <a:schemeClr val="dk1"/>
              </a:buClr>
              <a:buSzPct val="100000"/>
              <a:buFont typeface="Arial"/>
              <a:buNone/>
            </a:pP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Note - You can delete this slide (Important Pointers) when you upload the details of your idea on SIH portal.</a:t>
            </a:r>
            <a:endParaRPr b="1" dirty="0">
              <a:solidFill>
                <a:srgbClr val="C00000"/>
              </a:solidFill>
              <a:latin typeface="Arial" panose="020B0604020202020204" pitchFamily="34" charset="0"/>
              <a:cs typeface="Arial" panose="020B0604020202020204" pitchFamily="34" charset="0"/>
            </a:endParaRPr>
          </a:p>
          <a:p>
            <a:pPr marL="914400" marR="0" lvl="1" indent="-316230" algn="just" rtl="0">
              <a:lnSpc>
                <a:spcPct val="90000"/>
              </a:lnSpc>
              <a:spcBef>
                <a:spcPts val="500"/>
              </a:spcBef>
              <a:spcAft>
                <a:spcPts val="0"/>
              </a:spcAft>
              <a:buClr>
                <a:schemeClr val="dk1"/>
              </a:buClr>
              <a:buSzPct val="100000"/>
              <a:buFont typeface="Calibri"/>
              <a:buNone/>
            </a:pPr>
            <a:endParaRPr sz="2000" b="1" i="0" u="none" strike="noStrike" cap="none" dirty="0">
              <a:solidFill>
                <a:schemeClr val="dk1"/>
              </a:solidFill>
              <a:latin typeface="Arial" panose="020B0604020202020204" pitchFamily="34" charset="0"/>
              <a:ea typeface="Calibri"/>
              <a:cs typeface="Arial" panose="020B0604020202020204" pitchFamily="34" charset="0"/>
              <a:sym typeface="Calibri"/>
            </a:endParaRPr>
          </a:p>
        </p:txBody>
      </p:sp>
      <p:sp>
        <p:nvSpPr>
          <p:cNvPr id="4" name="TextBox 3"/>
          <p:cNvSpPr txBox="1"/>
          <p:nvPr/>
        </p:nvSpPr>
        <p:spPr>
          <a:xfrm>
            <a:off x="1393371" y="107066"/>
            <a:ext cx="8410540" cy="646331"/>
          </a:xfrm>
          <a:prstGeom prst="rect">
            <a:avLst/>
          </a:prstGeom>
          <a:noFill/>
        </p:spPr>
        <p:txBody>
          <a:bodyPr wrap="square" rtlCol="0">
            <a:spAutoFit/>
          </a:bodyPr>
          <a:lstStyle/>
          <a:p>
            <a:pPr algn="ctr"/>
            <a:r>
              <a:rPr lang="en-US" sz="3600" b="1" dirty="0">
                <a:latin typeface="Times New Roman" panose="02020603050405020304" pitchFamily="18" charset="0"/>
                <a:cs typeface="Times New Roman" panose="02020603050405020304" pitchFamily="18" charset="0"/>
              </a:rPr>
              <a:t>IMPORTANT INSTRUCTIONS</a:t>
            </a:r>
            <a:endParaRPr lang="en-IN" sz="3600" b="1" dirty="0">
              <a:latin typeface="Times New Roman" panose="02020603050405020304" pitchFamily="18" charset="0"/>
              <a:cs typeface="Times New Roman" panose="02020603050405020304" pitchFamily="18" charset="0"/>
            </a:endParaRPr>
          </a:p>
        </p:txBody>
      </p:sp>
      <p:sp>
        <p:nvSpPr>
          <p:cNvPr id="5" name="TextBox 4"/>
          <p:cNvSpPr txBox="1"/>
          <p:nvPr/>
        </p:nvSpPr>
        <p:spPr>
          <a:xfrm>
            <a:off x="602343" y="1181900"/>
            <a:ext cx="9557657" cy="341632"/>
          </a:xfrm>
          <a:prstGeom prst="rect">
            <a:avLst/>
          </a:prstGeom>
          <a:noFill/>
        </p:spPr>
        <p:txBody>
          <a:bodyPr wrap="square" rtlCol="0">
            <a:spAutoFit/>
          </a:bodyPr>
          <a:lstStyle/>
          <a:p>
            <a:pPr algn="just">
              <a:lnSpc>
                <a:spcPct val="90000"/>
              </a:lnSpc>
              <a:spcBef>
                <a:spcPts val="1000"/>
              </a:spcBef>
              <a:spcAft>
                <a:spcPts val="0"/>
              </a:spcAft>
              <a:buClr>
                <a:schemeClr val="dk1"/>
              </a:buClr>
              <a:buSzPct val="100000"/>
            </a:pPr>
            <a:r>
              <a:rPr lang="en-US" b="1" dirty="0">
                <a:solidFill>
                  <a:schemeClr val="dk1"/>
                </a:solidFill>
                <a:latin typeface="Arial" panose="020B0604020202020204" pitchFamily="34" charset="0"/>
                <a:ea typeface="Calibri"/>
                <a:cs typeface="Arial" panose="020B0604020202020204" pitchFamily="34" charset="0"/>
              </a:rPr>
              <a:t>Please ensure below pointers are met while submitting the Idea PPT:</a:t>
            </a:r>
            <a:endParaRPr lang="en-IN" b="1" dirty="0">
              <a:solidFill>
                <a:schemeClr val="dk1"/>
              </a:solidFill>
              <a:latin typeface="Arial" panose="020B0604020202020204" pitchFamily="34" charset="0"/>
              <a:ea typeface="Calibri"/>
              <a:cs typeface="Arial" panose="020B0604020202020204" pitchFamily="34" charset="0"/>
            </a:endParaRPr>
          </a:p>
        </p:txBody>
      </p:sp>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15880844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